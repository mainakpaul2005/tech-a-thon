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693400" cy="7556500"/>
  <p:notesSz cx="6858000" cy="9144000"/>
  <p:embeddedFontLst>
    <p:embeddedFont>
      <p:font typeface="Helvetica World" panose="020B0604020202020204" charset="-128"/>
      <p:regular r:id="rId10"/>
    </p:embeddedFont>
    <p:embeddedFont>
      <p:font typeface="Helvetica World Bold" panose="020B0604020202020204" charset="-128"/>
      <p:regular r:id="rId11"/>
    </p:embeddedFont>
    <p:embeddedFont>
      <p:font typeface="Ubuntu Mono Medium" panose="020B0309030602030204" pitchFamily="49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7" d="100"/>
          <a:sy n="77" d="100"/>
        </p:scale>
        <p:origin x="1056" y="7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12" Type="http://schemas.openxmlformats.org/officeDocument/2006/relationships/image" Target="../media/image34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svg"/><Relationship Id="rId11" Type="http://schemas.openxmlformats.org/officeDocument/2006/relationships/image" Target="../media/image8.svg"/><Relationship Id="rId5" Type="http://schemas.openxmlformats.org/officeDocument/2006/relationships/image" Target="../media/image28.svg"/><Relationship Id="rId10" Type="http://schemas.openxmlformats.org/officeDocument/2006/relationships/image" Target="../media/image33.svg"/><Relationship Id="rId4" Type="http://schemas.openxmlformats.org/officeDocument/2006/relationships/image" Target="../media/image27.svg"/><Relationship Id="rId9" Type="http://schemas.openxmlformats.org/officeDocument/2006/relationships/image" Target="../media/image3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715230" y="2944742"/>
            <a:ext cx="3684622" cy="4234996"/>
          </a:xfrm>
          <a:custGeom>
            <a:avLst/>
            <a:gdLst/>
            <a:ahLst/>
            <a:cxnLst/>
            <a:rect l="l" t="t" r="r" b="b"/>
            <a:pathLst>
              <a:path w="3684622" h="4234996">
                <a:moveTo>
                  <a:pt x="0" y="0"/>
                </a:moveTo>
                <a:lnTo>
                  <a:pt x="3684623" y="0"/>
                </a:lnTo>
                <a:lnTo>
                  <a:pt x="3684623" y="4234996"/>
                </a:lnTo>
                <a:lnTo>
                  <a:pt x="0" y="42349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-63499" y="-82653"/>
            <a:ext cx="10819000" cy="990600"/>
          </a:xfrm>
          <a:custGeom>
            <a:avLst/>
            <a:gdLst/>
            <a:ahLst/>
            <a:cxnLst/>
            <a:rect l="l" t="t" r="r" b="b"/>
            <a:pathLst>
              <a:path w="10819000" h="990600">
                <a:moveTo>
                  <a:pt x="0" y="0"/>
                </a:moveTo>
                <a:lnTo>
                  <a:pt x="10819000" y="0"/>
                </a:lnTo>
                <a:lnTo>
                  <a:pt x="1081900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11" name="TextBox 11"/>
          <p:cNvSpPr txBox="1"/>
          <p:nvPr/>
        </p:nvSpPr>
        <p:spPr>
          <a:xfrm>
            <a:off x="355597" y="-2810"/>
            <a:ext cx="6023610" cy="908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 TECHATHON 2026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96603" y="56540"/>
            <a:ext cx="1023509" cy="342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 dirty="0">
                <a:solidFill>
                  <a:schemeClr val="bg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 </a:t>
            </a:r>
          </a:p>
          <a:p>
            <a:pPr algn="l">
              <a:lnSpc>
                <a:spcPts val="1260"/>
              </a:lnSpc>
            </a:pPr>
            <a:r>
              <a:rPr lang="en-US" sz="900" b="1" dirty="0">
                <a:solidFill>
                  <a:schemeClr val="bg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 2026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33222" y="4768850"/>
            <a:ext cx="5181600" cy="20463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Statement–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300" b="1" dirty="0" err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SmartScape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5G: Powering Intelligent Cities </a:t>
            </a:r>
          </a:p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Theme –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Smart Governance &amp; Urban Technology</a:t>
            </a:r>
          </a:p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PS Category –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Software + IoT</a:t>
            </a:r>
          </a:p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Team ID –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[YOUR TEAM ID]</a:t>
            </a:r>
          </a:p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Team Name – 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068670-BE65-5EC4-F670-08B5C0E7D373}"/>
              </a:ext>
            </a:extLst>
          </p:cNvPr>
          <p:cNvSpPr txBox="1"/>
          <p:nvPr/>
        </p:nvSpPr>
        <p:spPr>
          <a:xfrm>
            <a:off x="433222" y="968832"/>
            <a:ext cx="102601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5400" dirty="0" err="1">
                <a:solidFill>
                  <a:schemeClr val="accent1">
                    <a:lumMod val="75000"/>
                  </a:schemeClr>
                </a:solidFill>
                <a:latin typeface="Ubuntu Mono Medium" panose="020B0309030602030204" pitchFamily="49" charset="0"/>
              </a:rPr>
              <a:t>NexaCity</a:t>
            </a:r>
            <a:r>
              <a:rPr lang="en-IN" sz="5400" dirty="0">
                <a:solidFill>
                  <a:schemeClr val="accent1">
                    <a:lumMod val="75000"/>
                  </a:schemeClr>
                </a:solidFill>
                <a:latin typeface="Ubuntu Mono Medium" panose="020B0309030602030204" pitchFamily="49" charset="0"/>
              </a:rPr>
              <a:t>: </a:t>
            </a:r>
            <a:r>
              <a:rPr lang="en-US" sz="5400" dirty="0"/>
              <a:t>Real-Time Smart Urban Monitoring System</a:t>
            </a:r>
            <a:r>
              <a:rPr lang="en-IN" sz="5400" dirty="0">
                <a:solidFill>
                  <a:schemeClr val="accent1">
                    <a:lumMod val="75000"/>
                  </a:schemeClr>
                </a:solidFill>
                <a:latin typeface="Ubuntu Mono Medium" panose="020B0309030602030204" pitchFamily="49" charset="0"/>
              </a:rPr>
              <a:t> </a:t>
            </a:r>
            <a:r>
              <a:rPr lang="en-IN" sz="5400" dirty="0">
                <a:solidFill>
                  <a:schemeClr val="tx2">
                    <a:lumMod val="40000"/>
                    <a:lumOff val="60000"/>
                  </a:schemeClr>
                </a:solidFill>
                <a:latin typeface="Ubuntu Mono Medium" panose="020B0309030602030204" pitchFamily="49" charset="0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5761" y="1375553"/>
            <a:ext cx="2526954" cy="1504950"/>
          </a:xfrm>
          <a:custGeom>
            <a:avLst/>
            <a:gdLst/>
            <a:ahLst/>
            <a:cxnLst/>
            <a:rect l="l" t="t" r="r" b="b"/>
            <a:pathLst>
              <a:path w="2526954" h="1504950">
                <a:moveTo>
                  <a:pt x="0" y="0"/>
                </a:moveTo>
                <a:lnTo>
                  <a:pt x="2526953" y="0"/>
                </a:lnTo>
                <a:lnTo>
                  <a:pt x="2526953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92094" y="3445202"/>
            <a:ext cx="2526954" cy="1504950"/>
          </a:xfrm>
          <a:custGeom>
            <a:avLst/>
            <a:gdLst/>
            <a:ahLst/>
            <a:cxnLst/>
            <a:rect l="l" t="t" r="r" b="b"/>
            <a:pathLst>
              <a:path w="2526954" h="1504950">
                <a:moveTo>
                  <a:pt x="0" y="0"/>
                </a:moveTo>
                <a:lnTo>
                  <a:pt x="2526954" y="0"/>
                </a:lnTo>
                <a:lnTo>
                  <a:pt x="2526954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940579" y="1375553"/>
            <a:ext cx="2526954" cy="1504950"/>
          </a:xfrm>
          <a:custGeom>
            <a:avLst/>
            <a:gdLst/>
            <a:ahLst/>
            <a:cxnLst/>
            <a:rect l="l" t="t" r="r" b="b"/>
            <a:pathLst>
              <a:path w="2526954" h="1504950">
                <a:moveTo>
                  <a:pt x="0" y="0"/>
                </a:moveTo>
                <a:lnTo>
                  <a:pt x="2526954" y="0"/>
                </a:lnTo>
                <a:lnTo>
                  <a:pt x="2526954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015901" y="3445202"/>
            <a:ext cx="2526954" cy="1504950"/>
          </a:xfrm>
          <a:custGeom>
            <a:avLst/>
            <a:gdLst/>
            <a:ahLst/>
            <a:cxnLst/>
            <a:rect l="l" t="t" r="r" b="b"/>
            <a:pathLst>
              <a:path w="2526954" h="1504950">
                <a:moveTo>
                  <a:pt x="0" y="0"/>
                </a:moveTo>
                <a:lnTo>
                  <a:pt x="2526954" y="0"/>
                </a:lnTo>
                <a:lnTo>
                  <a:pt x="2526954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08586" y="-1424"/>
            <a:ext cx="10123675" cy="6893252"/>
          </a:xfrm>
          <a:custGeom>
            <a:avLst/>
            <a:gdLst/>
            <a:ahLst/>
            <a:cxnLst/>
            <a:rect l="l" t="t" r="r" b="b"/>
            <a:pathLst>
              <a:path w="10123675" h="6893252">
                <a:moveTo>
                  <a:pt x="0" y="0"/>
                </a:moveTo>
                <a:lnTo>
                  <a:pt x="10123675" y="0"/>
                </a:lnTo>
                <a:lnTo>
                  <a:pt x="10123675" y="6893252"/>
                </a:lnTo>
                <a:lnTo>
                  <a:pt x="0" y="68932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423058" y="239014"/>
            <a:ext cx="951009" cy="257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</a:t>
            </a:r>
          </a:p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GODS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18936" y="3866698"/>
            <a:ext cx="2043514" cy="645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Smart bin sensors,</a:t>
            </a:r>
          </a:p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IoT fill-level alerts, AI-optimised collection route planning.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520" y="1822526"/>
            <a:ext cx="2059931" cy="645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AI-driven signal control via 5G edge nodes. Real-time rerouting</a:t>
            </a:r>
          </a:p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&amp; congestion alerts.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202610" y="1757048"/>
            <a:ext cx="2066698" cy="645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Panic SOS routing, auto-dispatch to nearest unit, incident command dashboard.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248554" y="3866698"/>
            <a:ext cx="1931535" cy="645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Smart meter analytics, demand forecasting, renewable integration, grid anomaly alerts.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09042" y="145432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41161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859323" y="1834131"/>
            <a:ext cx="4226397" cy="3806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Real-Time Intelligence: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5G + edge computing for sub-10ms city decisions. 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Modular Architecture: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Plug-and-play subsystems per city's needs.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 Predictive Analytics: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Proactive alerts — not just reactive dashboards. 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Scalable Deployment: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Microservices design supports multi-city rollout. 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Hybrid Connectivity: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4G/5G fallback ensures 24x7 uptime reliability. 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Citizen-First Interface: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Multilingual React Native app with voice support.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64667" y="46415"/>
            <a:ext cx="6081932" cy="552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2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NexaCity5G – Smart City Platform Overview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0920" y="1543860"/>
            <a:ext cx="972922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Traffic Intelligence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3445" y="3575441"/>
            <a:ext cx="1027871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Waste Management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909193" y="3575441"/>
            <a:ext cx="740369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Energy &amp; Grid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628846" y="1543860"/>
            <a:ext cx="1150420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Emergency Response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859323" y="915286"/>
            <a:ext cx="585026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01.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IoT Onboarding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26304" y="915286"/>
            <a:ext cx="636480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02.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Edge Processing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19061" y="1075963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64300" y="915286"/>
            <a:ext cx="135045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03.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73167" y="1075963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138275" y="915286"/>
            <a:ext cx="580234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04.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City Dashboard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057550" y="1075963"/>
            <a:ext cx="55682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AI/ML Analysis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625398" y="1366028"/>
            <a:ext cx="2409749" cy="28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Unique Value Proposition (UVP):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9174" y="5716734"/>
            <a:ext cx="5839183" cy="912169"/>
          </a:xfrm>
          <a:custGeom>
            <a:avLst/>
            <a:gdLst/>
            <a:ahLst/>
            <a:cxnLst/>
            <a:rect l="l" t="t" r="r" b="b"/>
            <a:pathLst>
              <a:path w="5839183" h="912169">
                <a:moveTo>
                  <a:pt x="0" y="0"/>
                </a:moveTo>
                <a:lnTo>
                  <a:pt x="5839183" y="0"/>
                </a:lnTo>
                <a:lnTo>
                  <a:pt x="5839183" y="912169"/>
                </a:lnTo>
                <a:lnTo>
                  <a:pt x="0" y="9121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82578" y="130178"/>
            <a:ext cx="5114925" cy="552450"/>
          </a:xfrm>
          <a:custGeom>
            <a:avLst/>
            <a:gdLst/>
            <a:ahLst/>
            <a:cxnLst/>
            <a:rect l="l" t="t" r="r" b="b"/>
            <a:pathLst>
              <a:path w="5114925" h="552450">
                <a:moveTo>
                  <a:pt x="0" y="0"/>
                </a:moveTo>
                <a:lnTo>
                  <a:pt x="5114925" y="0"/>
                </a:lnTo>
                <a:lnTo>
                  <a:pt x="5114925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409505" y="736597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409505" y="1397003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409505" y="2057400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5409505" y="2717797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409505" y="3378203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850497" y="101603"/>
            <a:ext cx="507997" cy="507997"/>
          </a:xfrm>
          <a:custGeom>
            <a:avLst/>
            <a:gdLst/>
            <a:ahLst/>
            <a:cxnLst/>
            <a:rect l="l" t="t" r="r" b="b"/>
            <a:pathLst>
              <a:path w="507997" h="507997">
                <a:moveTo>
                  <a:pt x="0" y="0"/>
                </a:moveTo>
                <a:lnTo>
                  <a:pt x="507996" y="0"/>
                </a:lnTo>
                <a:lnTo>
                  <a:pt x="507996" y="507997"/>
                </a:lnTo>
                <a:lnTo>
                  <a:pt x="0" y="5079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574602" y="2147878"/>
            <a:ext cx="967511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 Analytics Engine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574602" y="827084"/>
            <a:ext cx="1134456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IoT Device Onboarding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4602" y="1487481"/>
            <a:ext cx="1146172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Edge Processing Layer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574602" y="3468681"/>
            <a:ext cx="1162955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Authority &amp; Citizen App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74602" y="2808275"/>
            <a:ext cx="1301306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City Command Dashboard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39207" y="5792934"/>
            <a:ext cx="867985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Product Status: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1124" y="48142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24925" y="172781"/>
            <a:ext cx="682781" cy="3840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1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</a:t>
            </a:r>
          </a:p>
          <a:p>
            <a:pPr algn="ctr">
              <a:lnSpc>
                <a:spcPts val="1551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GODS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960451" y="53137"/>
            <a:ext cx="2771099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2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Technical Approach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24925" y="862470"/>
            <a:ext cx="3890787" cy="569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Cross-platformmobileapp with real-time city dashboards, alerts,SOS,andmultilingualvoice interface.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57856" y="16138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39207" y="2085118"/>
            <a:ext cx="935669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565C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 / ML Engine: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09926" y="31759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6215" y="4241198"/>
            <a:ext cx="1000696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C62828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Database Stack: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91885" y="3544300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83834" y="3696700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39207" y="4935684"/>
            <a:ext cx="1262882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Cloud (AWS + CDN):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35904" y="40649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39207" y="2751684"/>
            <a:ext cx="1288409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7B1FA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 / WebSockets: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26215" y="807015"/>
            <a:ext cx="1504217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React</a:t>
            </a:r>
            <a:r>
              <a:rPr lang="en-US" sz="10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0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Native</a:t>
            </a:r>
            <a:r>
              <a:rPr lang="en-US" sz="10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0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(Frontend):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11605" y="9407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97944" y="26552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26215" y="3499790"/>
            <a:ext cx="1698403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F57C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 Edge Computing (MEC):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537802" y="30235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97829" y="10931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39207" y="1422540"/>
            <a:ext cx="1803197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Node.js + FastAPI (Backend):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63570" y="14614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24925" y="1684115"/>
            <a:ext cx="3893378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MicroservicesAPIshandlingIoT data ingestion, city modulecoordination, and RESTful communication.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39207" y="2333625"/>
            <a:ext cx="4153001" cy="37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3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Traffic prediction (LSTM), anomaly detection (Isolation Forest), demand forecasting (ARIMA + XGBoost).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39207" y="3782698"/>
            <a:ext cx="3893378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On-premise edgenodeshandle latency-critical decisions beforedata reaches cloud — sub-10ms response.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39207" y="5204398"/>
            <a:ext cx="4158059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S3 formodelstorage, Lambda for serverless processing, CloudFront CDN for dashboard asset delivery.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39207" y="4487374"/>
            <a:ext cx="4158059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PostgreSQL(structured), InfluxDB (time-series IoT data), MongoDB(logs),Firebase (auth &amp; push notifications).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24925" y="3041955"/>
            <a:ext cx="4158059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Real-time bidirectional communication between IoT edge beforedata reaches cloud — sub-10ms response.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39207" y="5916759"/>
            <a:ext cx="3921587" cy="572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Coremodules —IoT simulator, AI engine, React Native app, and admin dashboard — built. Integration into unified platform in progress.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896823" y="1720348"/>
            <a:ext cx="378990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Raw Data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876182" y="3701548"/>
            <a:ext cx="421091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Push Alert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839492" y="3041152"/>
            <a:ext cx="495948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Alert Engine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832643" y="2380745"/>
            <a:ext cx="509921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Traffic LSTM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733945" y="1059952"/>
            <a:ext cx="711251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Simulated Sensor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26742" y="3041152"/>
            <a:ext cx="402393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Heatmaps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908416" y="3701548"/>
            <a:ext cx="439779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SOS Route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899177" y="1720348"/>
            <a:ext cx="458648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Preprocess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862562" y="1059952"/>
            <a:ext cx="533333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 Broker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812080" y="2380745"/>
            <a:ext cx="636308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Anomaly Detect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949822" y="1059952"/>
            <a:ext cx="439779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Edge Node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920018" y="3701548"/>
            <a:ext cx="500577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Incident Log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883366" y="3041152"/>
            <a:ext cx="575348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Auto-Dispatch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855839" y="2380745"/>
            <a:ext cx="631507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Demand ARIMA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864916" y="1720348"/>
            <a:ext cx="612981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 Extract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82578" y="38100"/>
            <a:ext cx="10117322" cy="644528"/>
          </a:xfrm>
          <a:custGeom>
            <a:avLst/>
            <a:gdLst/>
            <a:ahLst/>
            <a:cxnLst/>
            <a:rect l="l" t="t" r="r" b="b"/>
            <a:pathLst>
              <a:path w="10117322" h="644528">
                <a:moveTo>
                  <a:pt x="0" y="0"/>
                </a:moveTo>
                <a:lnTo>
                  <a:pt x="10117322" y="0"/>
                </a:lnTo>
                <a:lnTo>
                  <a:pt x="10117322" y="644528"/>
                </a:lnTo>
                <a:lnTo>
                  <a:pt x="0" y="6445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63503" y="695963"/>
            <a:ext cx="10819000" cy="6927542"/>
          </a:xfrm>
          <a:custGeom>
            <a:avLst/>
            <a:gdLst/>
            <a:ahLst/>
            <a:cxnLst/>
            <a:rect l="l" t="t" r="r" b="b"/>
            <a:pathLst>
              <a:path w="10819000" h="6927542">
                <a:moveTo>
                  <a:pt x="0" y="0"/>
                </a:moveTo>
                <a:lnTo>
                  <a:pt x="10819000" y="0"/>
                </a:lnTo>
                <a:lnTo>
                  <a:pt x="10819000" y="6927542"/>
                </a:lnTo>
                <a:lnTo>
                  <a:pt x="0" y="69275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86483" y="290970"/>
            <a:ext cx="437740" cy="257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3355658"/>
            <a:ext cx="755618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C: AI ANALYTICS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7200" y="2062105"/>
            <a:ext cx="1007707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B: EDGE PROCESSING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4649219"/>
            <a:ext cx="1027748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D: GEO-ALERT ENGINE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5942781"/>
            <a:ext cx="1324985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E: DASHBOARD &amp; RESPONSE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57200" y="768544"/>
            <a:ext cx="1329976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A: IoT ONBOARDING &amp; SETUP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43621" y="5207098"/>
            <a:ext cx="403155" cy="284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Zone Classify?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163038" y="2619985"/>
            <a:ext cx="382934" cy="284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Anomaly Detect?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379346" y="5569753"/>
            <a:ext cx="151095" cy="135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9"/>
              </a:lnSpc>
            </a:pPr>
            <a:r>
              <a:rPr lang="en-US" sz="600">
                <a:solidFill>
                  <a:srgbClr val="C6282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Risk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35184" y="20612"/>
            <a:ext cx="2470071" cy="58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METHODOLOGY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88339" y="6482305"/>
            <a:ext cx="302247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Admin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Login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85136" y="1308068"/>
            <a:ext cx="512788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City Admin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Registers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3895" y="2601630"/>
            <a:ext cx="556117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Raw Sensor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77772" y="2762307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4223" y="5188744"/>
            <a:ext cx="637042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GPS Location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Check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81887" y="3885657"/>
            <a:ext cx="296904" cy="324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7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Traffic</a:t>
            </a:r>
          </a:p>
          <a:p>
            <a:pPr algn="ctr">
              <a:lnSpc>
                <a:spcPts val="976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173797" y="6482305"/>
            <a:ext cx="341605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Live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Heatmap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116361" y="1308068"/>
            <a:ext cx="458762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Configure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382566" y="1468745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081833" y="2601630"/>
            <a:ext cx="529199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Preprocess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265589" y="2762307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138030" y="3895182"/>
            <a:ext cx="453523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Waste Fill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Predictor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36512" y="3895182"/>
            <a:ext cx="523761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Emergency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ARIMA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162493" y="2601630"/>
            <a:ext cx="374361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Extraction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163407" y="6472780"/>
            <a:ext cx="372494" cy="324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7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Incident</a:t>
            </a:r>
          </a:p>
          <a:p>
            <a:pPr algn="ctr">
              <a:lnSpc>
                <a:spcPts val="976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118402" y="5188744"/>
            <a:ext cx="464306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Safe Zone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114858" y="5347383"/>
            <a:ext cx="106518" cy="16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spc="117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→ 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044345" y="1308068"/>
            <a:ext cx="615382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 Broker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Setup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190194" y="6482305"/>
            <a:ext cx="327546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Auto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Dispatch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114680" y="3895182"/>
            <a:ext cx="442636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 Fusion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Layer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123147" y="5188744"/>
            <a:ext cx="464306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Risk Zone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121919" y="5347383"/>
            <a:ext cx="106518" cy="16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spc="117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→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102002" y="1308068"/>
            <a:ext cx="507444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Edge Node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Pairing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183462" y="6482305"/>
            <a:ext cx="350949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City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Resolved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143762" y="1308068"/>
            <a:ext cx="431949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Live Data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Streaming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114758" y="5188744"/>
            <a:ext cx="491119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Notify App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176576" y="5349421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109424" y="2601630"/>
            <a:ext cx="501996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Forward to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254538" y="2762307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242412" y="3895182"/>
            <a:ext cx="464401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Predictive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513646" y="4055869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03427" y="2762307"/>
            <a:ext cx="27146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Data In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93485" y="4055869"/>
            <a:ext cx="477250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LSTM Model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210535" y="2762307"/>
            <a:ext cx="26666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&amp;Filter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121047" y="1468745"/>
            <a:ext cx="449209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SensorGrid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246026" y="5222424"/>
            <a:ext cx="173203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90A4A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Safe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180819" y="6642983"/>
            <a:ext cx="336975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Alert Log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219290" y="5349421"/>
            <a:ext cx="365008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Action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226351" y="5349421"/>
            <a:ext cx="360293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Geo-Alert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401554" y="2936348"/>
            <a:ext cx="424710" cy="164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C6282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YES→Alert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176528" y="2762307"/>
            <a:ext cx="365093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 Engine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121511" y="5349421"/>
            <a:ext cx="477336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&amp; Authorities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270454" y="4055869"/>
            <a:ext cx="407194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Insight 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439858" y="951452"/>
            <a:ext cx="2540003" cy="12697"/>
          </a:xfrm>
          <a:custGeom>
            <a:avLst/>
            <a:gdLst/>
            <a:ahLst/>
            <a:cxnLst/>
            <a:rect l="l" t="t" r="r" b="b"/>
            <a:pathLst>
              <a:path w="2540003" h="12697">
                <a:moveTo>
                  <a:pt x="0" y="0"/>
                </a:moveTo>
                <a:lnTo>
                  <a:pt x="2540003" y="0"/>
                </a:lnTo>
                <a:lnTo>
                  <a:pt x="2540003" y="12697"/>
                </a:lnTo>
                <a:lnTo>
                  <a:pt x="0" y="126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8850497" y="101603"/>
            <a:ext cx="507997" cy="507997"/>
          </a:xfrm>
          <a:custGeom>
            <a:avLst/>
            <a:gdLst/>
            <a:ahLst/>
            <a:cxnLst/>
            <a:rect l="l" t="t" r="r" b="b"/>
            <a:pathLst>
              <a:path w="507997" h="507997">
                <a:moveTo>
                  <a:pt x="0" y="0"/>
                </a:moveTo>
                <a:lnTo>
                  <a:pt x="507996" y="0"/>
                </a:lnTo>
                <a:lnTo>
                  <a:pt x="507996" y="507997"/>
                </a:lnTo>
                <a:lnTo>
                  <a:pt x="0" y="5079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496719" y="756000"/>
            <a:ext cx="4254567" cy="6385842"/>
          </a:xfrm>
          <a:custGeom>
            <a:avLst/>
            <a:gdLst/>
            <a:ahLst/>
            <a:cxnLst/>
            <a:rect l="l" t="t" r="r" b="b"/>
            <a:pathLst>
              <a:path w="4254567" h="6385842">
                <a:moveTo>
                  <a:pt x="0" y="0"/>
                </a:moveTo>
                <a:lnTo>
                  <a:pt x="4254567" y="0"/>
                </a:lnTo>
                <a:lnTo>
                  <a:pt x="4254567" y="6385842"/>
                </a:lnTo>
                <a:lnTo>
                  <a:pt x="0" y="63858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60302" y="695547"/>
            <a:ext cx="749335" cy="25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Actors: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60302" y="4053805"/>
            <a:ext cx="1625676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System Functions: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848407" y="1953806"/>
            <a:ext cx="36014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60302" y="2860808"/>
            <a:ext cx="3331326" cy="36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6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Monitors dashboards, verifies incidents, and triggers emergency dispatch.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60302" y="3568249"/>
            <a:ext cx="3536997" cy="36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6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Receives real-time alerts, SOS routing, and city service updates.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14295" y="1407709"/>
            <a:ext cx="36014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439858" y="2116118"/>
            <a:ext cx="3292240" cy="36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6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Simulated 5G-connected devices sending real-time urban data streams.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763701" y="861603"/>
            <a:ext cx="36014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460302" y="1360278"/>
            <a:ext cx="3662020" cy="36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6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Registers city, configures IoT sensors, and manages the platform.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6719" y="98612"/>
            <a:ext cx="656797" cy="473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304605" y="99687"/>
            <a:ext cx="2311394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2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CASE DIAGRAM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460302" y="1025633"/>
            <a:ext cx="1407485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City</a:t>
            </a:r>
            <a:r>
              <a:rPr lang="en-US" sz="12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Admin: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39858" y="1794761"/>
            <a:ext cx="1092194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IoT</a:t>
            </a:r>
            <a:r>
              <a:rPr lang="en-US" sz="12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Sensors: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60302" y="3260058"/>
            <a:ext cx="1470989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Citizens / App: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460302" y="2554738"/>
            <a:ext cx="1625676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Govt.</a:t>
            </a:r>
            <a:r>
              <a:rPr lang="en-US" sz="12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Authority: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460302" y="4346802"/>
            <a:ext cx="4272434" cy="1132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IoT Grid Setup &amp; Live Data Streaming (device management) </a:t>
            </a:r>
          </a:p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 Anomaly Detection (traffic, waste, emergency)</a:t>
            </a:r>
          </a:p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Geo-Zone Breach Alerts (real-time boundary enforcement)</a:t>
            </a:r>
          </a:p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Emergency SOS Auto-Dispatch (multi-level escalation)</a:t>
            </a:r>
          </a:p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City Dashboard Heatmaps &amp; Incident Reports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3503" y="38100"/>
            <a:ext cx="10819000" cy="7585396"/>
          </a:xfrm>
          <a:custGeom>
            <a:avLst/>
            <a:gdLst/>
            <a:ahLst/>
            <a:cxnLst/>
            <a:rect l="l" t="t" r="r" b="b"/>
            <a:pathLst>
              <a:path w="10819000" h="7585396">
                <a:moveTo>
                  <a:pt x="0" y="0"/>
                </a:moveTo>
                <a:lnTo>
                  <a:pt x="10819000" y="0"/>
                </a:lnTo>
                <a:lnTo>
                  <a:pt x="10819000" y="7585396"/>
                </a:lnTo>
                <a:lnTo>
                  <a:pt x="0" y="7585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2297" y="279943"/>
            <a:ext cx="437740" cy="257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89750" y="539144"/>
            <a:ext cx="1322632" cy="28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Feasibility 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04713" y="539144"/>
            <a:ext cx="1172156" cy="28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Viability Analysis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</a:t>
            </a: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436582" y="46415"/>
            <a:ext cx="3895220" cy="552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2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FEASIBILITY AND VIABILITY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" y="3173559"/>
            <a:ext cx="1732550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Social Feasibility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32588" y="1382078"/>
            <a:ext cx="2393866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Technical Feasibility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14214" y="1105900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565C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7200" y="2191931"/>
            <a:ext cx="2032815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Operational Feasibility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81979" y="16900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25491" y="1248321"/>
            <a:ext cx="1806311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Economic Viability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873467" y="1105900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580224" y="3157680"/>
            <a:ext cx="2027524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Market &amp; Scale Viability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3450" y="24266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541416" y="2353138"/>
            <a:ext cx="2585295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Government &amp; Policy Viability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63373" y="18424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57200" y="3436031"/>
            <a:ext cx="3120867" cy="760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53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Multilingual citizen app, voice SOS, and inclusive </a:t>
            </a:r>
          </a:p>
          <a:p>
            <a:pPr marL="237491" lvl="1" indent="-118745" algn="l">
              <a:lnSpc>
                <a:spcPts val="1553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UI support diverse urban populations across India.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1640523"/>
            <a:ext cx="3140610" cy="570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53"/>
              </a:lnSpc>
              <a:buFont typeface="Arial"/>
              <a:buChar char="•"/>
            </a:pPr>
            <a:r>
              <a:rPr lang="en-US" sz="1100">
                <a:solidFill>
                  <a:srgbClr val="1565C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React Native, FastAPI,Node.js, Python  </a:t>
            </a:r>
          </a:p>
          <a:p>
            <a:pPr marL="237491" lvl="1" indent="-118745" algn="l">
              <a:lnSpc>
                <a:spcPts val="1553"/>
              </a:lnSpc>
              <a:buFont typeface="Arial"/>
              <a:buChar char="•"/>
            </a:pPr>
            <a:r>
              <a:rPr lang="en-US" sz="1100">
                <a:solidFill>
                  <a:srgbClr val="1565C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ML, MQTT, AWS, InfluxDB — all production-ready frameworks.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57200" y="2430609"/>
            <a:ext cx="2600773" cy="76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Microservicesdesign allows independent deployment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Of traffic, waste, and emergency modules per city.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541416" y="1468666"/>
            <a:ext cx="3098656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Builton AWS free tier + open-source frameworks,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low-cost pilot-first rollout with strong 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ROI via reduced urban incident costs and fuel savings.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580224" y="2621109"/>
            <a:ext cx="3103158" cy="572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Aligned with SmartCities Mission(MoHUA) and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Digital India frameworks. DPDP Act 2023 compliant.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575857" y="3425650"/>
            <a:ext cx="3303900" cy="76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Modular design lets anycity adopt one or all modules.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Proven demand from 100+ Smart City Mission projects.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3500" y="-25396"/>
            <a:ext cx="10819000" cy="7585396"/>
          </a:xfrm>
          <a:custGeom>
            <a:avLst/>
            <a:gdLst/>
            <a:ahLst/>
            <a:cxnLst/>
            <a:rect l="l" t="t" r="r" b="b"/>
            <a:pathLst>
              <a:path w="10819000" h="7585396">
                <a:moveTo>
                  <a:pt x="0" y="0"/>
                </a:moveTo>
                <a:lnTo>
                  <a:pt x="10819000" y="0"/>
                </a:lnTo>
                <a:lnTo>
                  <a:pt x="10819000" y="7585396"/>
                </a:lnTo>
                <a:lnTo>
                  <a:pt x="0" y="7585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0397" y="290970"/>
            <a:ext cx="437740" cy="257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397" y="1535773"/>
            <a:ext cx="2724274" cy="511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4"/>
              </a:lnSpc>
            </a:pPr>
            <a:r>
              <a:rPr lang="en-US" sz="9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Citizens experience faster, safer daily travel.</a:t>
            </a:r>
          </a:p>
          <a:p>
            <a:pPr algn="l">
              <a:lnSpc>
                <a:spcPts val="1374"/>
              </a:lnSpc>
            </a:pPr>
            <a:r>
              <a:rPr lang="en-US" sz="9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Reduced fuel consumption and carbon emissions city-wide.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0397" y="4829994"/>
            <a:ext cx="2810599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Cleaner cities with 30% reduction in unnecessary waste trips. Lower city energy bills through predictive grid management.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0397" y="4347391"/>
            <a:ext cx="3052477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Smart waste sensors prevent overflow; AI optimises pickup routes. Energy grid analytics cut wastage and detect distribution faults.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0397" y="1062695"/>
            <a:ext cx="3185027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AI-driven traffic management cuts average commute time by 25-30%. Real-time geo-alerts prevent accidents in high-risk intersections.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727002" y="4347391"/>
            <a:ext cx="2735885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Live dashboards give authorities real-time city intelligence. Historical analytics support evidence-based urban planning.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727002" y="4829994"/>
            <a:ext cx="2796092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Faster, smarter policy decisions backed by verifiable data. Scalable platform grows with the city's population and needs.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727002" y="1545298"/>
            <a:ext cx="2845318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Response times reduced from minutes to seconds.</a:t>
            </a:r>
          </a:p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Better coordination between police, fire, and medical services.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727002" y="1062695"/>
            <a:ext cx="2908849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Sub-10ms SOS routing to nearest emergency unit via 5G edge. Auto-incident logging eliminates manual report delays.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</a:t>
            </a: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2026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3402" y="20612"/>
            <a:ext cx="3575304" cy="58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 AND BENEFITS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655116" y="633003"/>
            <a:ext cx="36014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F57C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82603" y="633003"/>
            <a:ext cx="1598009" cy="45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1. Urban Mobility &amp; Safety</a:t>
            </a:r>
          </a:p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82603" y="3917709"/>
            <a:ext cx="1922116" cy="45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3. Environmental Sustainability</a:t>
            </a:r>
          </a:p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Impact: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549198" y="3917709"/>
            <a:ext cx="1655778" cy="45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7B1FA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4. Data-Driven Governance</a:t>
            </a:r>
          </a:p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Impact: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549198" y="633003"/>
            <a:ext cx="2145440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F57C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2.EmergencyResponse</a:t>
            </a:r>
            <a:r>
              <a:rPr lang="en-US" sz="10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000" b="1">
                <a:solidFill>
                  <a:srgbClr val="F57C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Efficiency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82603" y="1364351"/>
            <a:ext cx="409823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Benefit: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82603" y="4649048"/>
            <a:ext cx="409823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Benefit: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549198" y="881748"/>
            <a:ext cx="391544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Impact: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549198" y="1364351"/>
            <a:ext cx="409823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Benefit: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549198" y="4649048"/>
            <a:ext cx="409823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Benefit: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92103" y="895350"/>
            <a:ext cx="2159003" cy="336547"/>
          </a:xfrm>
          <a:custGeom>
            <a:avLst/>
            <a:gdLst/>
            <a:ahLst/>
            <a:cxnLst/>
            <a:rect l="l" t="t" r="r" b="b"/>
            <a:pathLst>
              <a:path w="2159003" h="336547">
                <a:moveTo>
                  <a:pt x="0" y="0"/>
                </a:moveTo>
                <a:lnTo>
                  <a:pt x="2159003" y="0"/>
                </a:lnTo>
                <a:lnTo>
                  <a:pt x="2159003" y="336547"/>
                </a:lnTo>
                <a:lnTo>
                  <a:pt x="0" y="3365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68303" y="1638300"/>
            <a:ext cx="101603" cy="101603"/>
          </a:xfrm>
          <a:custGeom>
            <a:avLst/>
            <a:gdLst/>
            <a:ahLst/>
            <a:cxnLst/>
            <a:rect l="l" t="t" r="r" b="b"/>
            <a:pathLst>
              <a:path w="101603" h="101603">
                <a:moveTo>
                  <a:pt x="0" y="0"/>
                </a:moveTo>
                <a:lnTo>
                  <a:pt x="101603" y="0"/>
                </a:lnTo>
                <a:lnTo>
                  <a:pt x="101603" y="101603"/>
                </a:lnTo>
                <a:lnTo>
                  <a:pt x="0" y="1016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68303" y="2209800"/>
            <a:ext cx="101603" cy="101603"/>
          </a:xfrm>
          <a:custGeom>
            <a:avLst/>
            <a:gdLst/>
            <a:ahLst/>
            <a:cxnLst/>
            <a:rect l="l" t="t" r="r" b="b"/>
            <a:pathLst>
              <a:path w="101603" h="101603">
                <a:moveTo>
                  <a:pt x="0" y="0"/>
                </a:moveTo>
                <a:lnTo>
                  <a:pt x="101603" y="0"/>
                </a:lnTo>
                <a:lnTo>
                  <a:pt x="101603" y="101603"/>
                </a:lnTo>
                <a:lnTo>
                  <a:pt x="0" y="1016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92103" y="2914650"/>
            <a:ext cx="2286000" cy="298447"/>
          </a:xfrm>
          <a:custGeom>
            <a:avLst/>
            <a:gdLst/>
            <a:ahLst/>
            <a:cxnLst/>
            <a:rect l="l" t="t" r="r" b="b"/>
            <a:pathLst>
              <a:path w="2286000" h="298447">
                <a:moveTo>
                  <a:pt x="0" y="0"/>
                </a:moveTo>
                <a:lnTo>
                  <a:pt x="2286000" y="0"/>
                </a:lnTo>
                <a:lnTo>
                  <a:pt x="2286000" y="298447"/>
                </a:lnTo>
                <a:lnTo>
                  <a:pt x="0" y="2984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381000" y="3276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81000" y="347979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81000" y="3683003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81000" y="3886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81000" y="408939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82578" y="38100"/>
            <a:ext cx="10122408" cy="7031679"/>
          </a:xfrm>
          <a:custGeom>
            <a:avLst/>
            <a:gdLst/>
            <a:ahLst/>
            <a:cxnLst/>
            <a:rect l="l" t="t" r="r" b="b"/>
            <a:pathLst>
              <a:path w="10122408" h="7031679">
                <a:moveTo>
                  <a:pt x="0" y="0"/>
                </a:moveTo>
                <a:lnTo>
                  <a:pt x="10122408" y="0"/>
                </a:lnTo>
                <a:lnTo>
                  <a:pt x="10122408" y="7031679"/>
                </a:lnTo>
                <a:lnTo>
                  <a:pt x="0" y="70316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10462" y="196999"/>
            <a:ext cx="437740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  <a:p>
            <a:pPr algn="ctr">
              <a:lnSpc>
                <a:spcPts val="1000"/>
              </a:lnSpc>
            </a:pPr>
            <a:endParaRPr lang="en-US" sz="800" b="1">
              <a:solidFill>
                <a:srgbClr val="0D1B2A"/>
              </a:solidFill>
              <a:latin typeface="Helvetica World Bold"/>
              <a:ea typeface="Helvetica World Bold"/>
              <a:cs typeface="Helvetica World Bold"/>
              <a:sym typeface="Helvetica World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36073" y="767744"/>
            <a:ext cx="1568006" cy="28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Key Technology Pillars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20703" y="990390"/>
            <a:ext cx="1069096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IEEE Xplore (2023):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0504" y="11947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0703" y="2133390"/>
            <a:ext cx="172978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565C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NITI Aayog Smart Cities (2023):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29332" y="23377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20703" y="1561890"/>
            <a:ext cx="1749142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Cisco Smart City Report (2022):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00744" y="17662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20703" y="2946197"/>
            <a:ext cx="2103511" cy="46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ITU Smart City KPIs Report, 2022 MoHUA Smart Cities Mission Reports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20703" y="3390690"/>
            <a:ext cx="1883512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 Protocol Specification v5.0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20703" y="3593897"/>
            <a:ext cx="1196702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 MEC Architecture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0703" y="3758994"/>
            <a:ext cx="1598343" cy="46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TensorFlow Lite for Edge AI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InfluxDB Time-Series for IoT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9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750134" y="26565"/>
            <a:ext cx="5295567" cy="6442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RESEARCH AND REFERENCES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55597" y="692934"/>
            <a:ext cx="967197" cy="28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RESEARCH :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55597" y="2712234"/>
            <a:ext cx="1157307" cy="28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REFERENCES 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0703" y="2337797"/>
            <a:ext cx="2444201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India'sSmart CitiesMission: outcomes, tech stack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20703" y="2490197"/>
            <a:ext cx="2417445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adoption, and lessons from 100 city deployments.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20703" y="1766297"/>
            <a:ext cx="2643721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Edge computingdeploymentstrategies for low-latency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20703" y="1918697"/>
            <a:ext cx="2263950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civic IoT applications — a practical framework.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20703" y="1194797"/>
            <a:ext cx="2728941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Smart City IoTarchitectures using 5G MEC for real-time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20703" y="1347197"/>
            <a:ext cx="2074669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urban traffic and emergency management.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612974" y="3226794"/>
            <a:ext cx="942318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 smartcities.gov.in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397290" y="3430000"/>
            <a:ext cx="495710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–mqtt.org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723949" y="3633197"/>
            <a:ext cx="948700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ETSI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302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217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098624" y="3836394"/>
            <a:ext cx="95464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–tensorflow.org/lite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117712" y="4039600"/>
            <a:ext cx="1064866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influxdata.com/docs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752405" y="1592951"/>
            <a:ext cx="697430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AI/ML Engine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752405" y="1973951"/>
            <a:ext cx="734425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Microservices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752405" y="2354951"/>
            <a:ext cx="997258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MQTT/WebSockets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752405" y="2735951"/>
            <a:ext cx="1040092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Hybrid Connectivity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752405" y="3116951"/>
            <a:ext cx="1076868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Multi-City Scalability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752405" y="1211951"/>
            <a:ext cx="1153277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 + Edge Computing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512357" y="1619564"/>
            <a:ext cx="1916773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LSTM + ARIMA + Isolation Forest models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548628" y="2000564"/>
            <a:ext cx="2111369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Independent traffic/waste/emergency modules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806308" y="2381564"/>
            <a:ext cx="1932794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Real-time bidirectional IoT communication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59270" y="1238564"/>
            <a:ext cx="1938338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Sub-10ms city intelligence via MEC nodes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848294" y="2762564"/>
            <a:ext cx="2197646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Seamless 4G/5G failover ensures 99.9% uptime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884356" y="3143564"/>
            <a:ext cx="2195122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Kubernetes + AWS Lambda auto-scaling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1224</Words>
  <Application>Microsoft Office PowerPoint</Application>
  <PresentationFormat>Custom</PresentationFormat>
  <Paragraphs>305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Calibri</vt:lpstr>
      <vt:lpstr>Helvetica World</vt:lpstr>
      <vt:lpstr>Helvetica World Bold</vt:lpstr>
      <vt:lpstr>Arial</vt:lpstr>
      <vt:lpstr>Ubuntu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SmartScape_NexaCity5G_CodeSmokers_PRABUDDHA2026.pdf</dc:title>
  <cp:lastModifiedBy>Mainak Paul</cp:lastModifiedBy>
  <cp:revision>3</cp:revision>
  <dcterms:created xsi:type="dcterms:W3CDTF">2006-08-16T00:00:00Z</dcterms:created>
  <dcterms:modified xsi:type="dcterms:W3CDTF">2026-04-15T22:06:25Z</dcterms:modified>
  <dc:identifier>DAHG5QEtxVw</dc:identifier>
</cp:coreProperties>
</file>