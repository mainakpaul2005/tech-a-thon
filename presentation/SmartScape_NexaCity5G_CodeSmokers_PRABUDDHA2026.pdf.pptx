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0693400" cy="7556500"/>
  <p:notesSz cx="6858000" cy="9144000"/>
  <p:embeddedFontLst>
    <p:embeddedFont>
      <p:font typeface="Helvetica World" panose="020B0604020202020204" charset="-128"/>
      <p:regular r:id="rId10"/>
    </p:embeddedFont>
    <p:embeddedFont>
      <p:font typeface="Helvetica World Bold" panose="020B0604020202020204" charset="-128"/>
      <p:regular r:id="rId11"/>
    </p:embeddedFont>
    <p:embeddedFont>
      <p:font typeface="Ubuntu Mono Medium" panose="020B0309030602030204" pitchFamily="49" charset="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7" d="100"/>
          <a:sy n="77" d="100"/>
        </p:scale>
        <p:origin x="1056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svg"/><Relationship Id="rId7" Type="http://schemas.openxmlformats.org/officeDocument/2006/relationships/image" Target="../media/image15.svg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10" Type="http://schemas.openxmlformats.org/officeDocument/2006/relationships/image" Target="../media/image18.svg"/><Relationship Id="rId4" Type="http://schemas.openxmlformats.org/officeDocument/2006/relationships/image" Target="../media/image12.svg"/><Relationship Id="rId9" Type="http://schemas.openxmlformats.org/officeDocument/2006/relationships/image" Target="../media/image17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png"/><Relationship Id="rId4" Type="http://schemas.openxmlformats.org/officeDocument/2006/relationships/image" Target="../media/image18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svg"/><Relationship Id="rId3" Type="http://schemas.openxmlformats.org/officeDocument/2006/relationships/image" Target="../media/image26.svg"/><Relationship Id="rId7" Type="http://schemas.openxmlformats.org/officeDocument/2006/relationships/image" Target="../media/image30.svg"/><Relationship Id="rId12" Type="http://schemas.openxmlformats.org/officeDocument/2006/relationships/image" Target="../media/image34.svg"/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svg"/><Relationship Id="rId11" Type="http://schemas.openxmlformats.org/officeDocument/2006/relationships/image" Target="../media/image8.svg"/><Relationship Id="rId5" Type="http://schemas.openxmlformats.org/officeDocument/2006/relationships/image" Target="../media/image28.svg"/><Relationship Id="rId10" Type="http://schemas.openxmlformats.org/officeDocument/2006/relationships/image" Target="../media/image33.svg"/><Relationship Id="rId4" Type="http://schemas.openxmlformats.org/officeDocument/2006/relationships/image" Target="../media/image27.svg"/><Relationship Id="rId9" Type="http://schemas.openxmlformats.org/officeDocument/2006/relationships/image" Target="../media/image3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8"/>
          <p:cNvSpPr/>
          <p:nvPr/>
        </p:nvSpPr>
        <p:spPr>
          <a:xfrm>
            <a:off x="0" y="7229799"/>
            <a:ext cx="10692003" cy="330203"/>
          </a:xfrm>
          <a:custGeom>
            <a:avLst/>
            <a:gdLst/>
            <a:ahLst/>
            <a:cxnLst/>
            <a:rect l="l" t="t" r="r" b="b"/>
            <a:pathLst>
              <a:path w="10692003" h="330203">
                <a:moveTo>
                  <a:pt x="0" y="0"/>
                </a:moveTo>
                <a:lnTo>
                  <a:pt x="10692003" y="0"/>
                </a:lnTo>
                <a:lnTo>
                  <a:pt x="10692003" y="330203"/>
                </a:lnTo>
                <a:lnTo>
                  <a:pt x="0" y="33020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5855922" y="1813703"/>
            <a:ext cx="3684622" cy="4234996"/>
          </a:xfrm>
          <a:custGeom>
            <a:avLst/>
            <a:gdLst/>
            <a:ahLst/>
            <a:cxnLst/>
            <a:rect l="l" t="t" r="r" b="b"/>
            <a:pathLst>
              <a:path w="3684622" h="4234996">
                <a:moveTo>
                  <a:pt x="0" y="0"/>
                </a:moveTo>
                <a:lnTo>
                  <a:pt x="3684623" y="0"/>
                </a:lnTo>
                <a:lnTo>
                  <a:pt x="3684623" y="4234996"/>
                </a:lnTo>
                <a:lnTo>
                  <a:pt x="0" y="42349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-63499" y="-82653"/>
            <a:ext cx="10819000" cy="990600"/>
          </a:xfrm>
          <a:custGeom>
            <a:avLst/>
            <a:gdLst/>
            <a:ahLst/>
            <a:cxnLst/>
            <a:rect l="l" t="t" r="r" b="b"/>
            <a:pathLst>
              <a:path w="10819000" h="990600">
                <a:moveTo>
                  <a:pt x="0" y="0"/>
                </a:moveTo>
                <a:lnTo>
                  <a:pt x="10819000" y="0"/>
                </a:lnTo>
                <a:lnTo>
                  <a:pt x="10819000" y="990600"/>
                </a:lnTo>
                <a:lnTo>
                  <a:pt x="0" y="9906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11" name="TextBox 11"/>
          <p:cNvSpPr txBox="1"/>
          <p:nvPr/>
        </p:nvSpPr>
        <p:spPr>
          <a:xfrm>
            <a:off x="355597" y="-2810"/>
            <a:ext cx="6023610" cy="9088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PRABUDDHA TECHATHON 2026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396603" y="56540"/>
            <a:ext cx="1023509" cy="342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100" b="1" dirty="0">
                <a:solidFill>
                  <a:schemeClr val="bg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PRABUDDHA </a:t>
            </a:r>
          </a:p>
          <a:p>
            <a:pPr algn="l">
              <a:lnSpc>
                <a:spcPts val="1260"/>
              </a:lnSpc>
            </a:pPr>
            <a:r>
              <a:rPr lang="en-US" sz="900" b="1" dirty="0">
                <a:solidFill>
                  <a:schemeClr val="bg1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TECHATHON 2026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399852" y="7293092"/>
            <a:ext cx="64818" cy="225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1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33222" y="4768850"/>
            <a:ext cx="5181600" cy="20463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50"/>
              </a:lnSpc>
            </a:pPr>
            <a:r>
              <a:rPr lang="en-US" sz="1300" b="1" dirty="0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Problem Statement–</a:t>
            </a:r>
            <a:r>
              <a:rPr lang="en-US" sz="1300" b="1" dirty="0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  <a:r>
              <a:rPr lang="en-US" sz="1300" b="1" dirty="0" err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SmartScape</a:t>
            </a:r>
            <a:r>
              <a:rPr lang="en-US" sz="1300" b="1" dirty="0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5G: Powering Intelligent Cities </a:t>
            </a:r>
          </a:p>
          <a:p>
            <a:pPr algn="l">
              <a:lnSpc>
                <a:spcPts val="3250"/>
              </a:lnSpc>
            </a:pPr>
            <a:r>
              <a:rPr lang="en-US" sz="1300" b="1" dirty="0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Theme –</a:t>
            </a:r>
            <a:r>
              <a:rPr lang="en-US" sz="1300" b="1" dirty="0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Smart Governance &amp; Urban Technology</a:t>
            </a:r>
          </a:p>
          <a:p>
            <a:pPr algn="l">
              <a:lnSpc>
                <a:spcPts val="3250"/>
              </a:lnSpc>
            </a:pPr>
            <a:r>
              <a:rPr lang="en-US" sz="1300" b="1" dirty="0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PS Category –</a:t>
            </a:r>
            <a:r>
              <a:rPr lang="en-US" sz="1300" b="1" dirty="0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Software + IoT</a:t>
            </a:r>
          </a:p>
          <a:p>
            <a:pPr algn="l">
              <a:lnSpc>
                <a:spcPts val="3250"/>
              </a:lnSpc>
            </a:pPr>
            <a:r>
              <a:rPr lang="en-US" sz="1300" b="1" dirty="0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Team ID –</a:t>
            </a:r>
            <a:r>
              <a:rPr lang="en-US" sz="1300" b="1" dirty="0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[YOUR TEAM ID]</a:t>
            </a:r>
          </a:p>
          <a:p>
            <a:pPr algn="l">
              <a:lnSpc>
                <a:spcPts val="3250"/>
              </a:lnSpc>
            </a:pPr>
            <a:r>
              <a:rPr lang="en-US" sz="1300" b="1" dirty="0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Team Name – </a:t>
            </a:r>
            <a:r>
              <a:rPr lang="en-US" sz="1300" b="1" dirty="0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Glitch Gods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068670-BE65-5EC4-F670-08B5C0E7D373}"/>
              </a:ext>
            </a:extLst>
          </p:cNvPr>
          <p:cNvSpPr txBox="1"/>
          <p:nvPr/>
        </p:nvSpPr>
        <p:spPr>
          <a:xfrm>
            <a:off x="433222" y="968832"/>
            <a:ext cx="5181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5400" dirty="0" err="1">
                <a:solidFill>
                  <a:schemeClr val="accent1">
                    <a:lumMod val="75000"/>
                  </a:schemeClr>
                </a:solidFill>
                <a:latin typeface="Ubuntu Mono Medium" panose="020B0309030602030204" pitchFamily="49" charset="0"/>
              </a:rPr>
              <a:t>NexaCity</a:t>
            </a:r>
            <a:r>
              <a:rPr lang="en-IN" sz="5400" dirty="0">
                <a:solidFill>
                  <a:schemeClr val="tx2">
                    <a:lumMod val="40000"/>
                    <a:lumOff val="60000"/>
                  </a:schemeClr>
                </a:solidFill>
                <a:latin typeface="Ubuntu Mono Medium" panose="020B0309030602030204" pitchFamily="49" charset="0"/>
              </a:rPr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55761" y="1375553"/>
            <a:ext cx="2526954" cy="1504950"/>
          </a:xfrm>
          <a:custGeom>
            <a:avLst/>
            <a:gdLst/>
            <a:ahLst/>
            <a:cxnLst/>
            <a:rect l="l" t="t" r="r" b="b"/>
            <a:pathLst>
              <a:path w="2526954" h="1504950">
                <a:moveTo>
                  <a:pt x="0" y="0"/>
                </a:moveTo>
                <a:lnTo>
                  <a:pt x="2526953" y="0"/>
                </a:lnTo>
                <a:lnTo>
                  <a:pt x="2526953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292094" y="3445202"/>
            <a:ext cx="2526954" cy="1504950"/>
          </a:xfrm>
          <a:custGeom>
            <a:avLst/>
            <a:gdLst/>
            <a:ahLst/>
            <a:cxnLst/>
            <a:rect l="l" t="t" r="r" b="b"/>
            <a:pathLst>
              <a:path w="2526954" h="1504950">
                <a:moveTo>
                  <a:pt x="0" y="0"/>
                </a:moveTo>
                <a:lnTo>
                  <a:pt x="2526954" y="0"/>
                </a:lnTo>
                <a:lnTo>
                  <a:pt x="2526954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2940579" y="1375553"/>
            <a:ext cx="2526954" cy="1504950"/>
          </a:xfrm>
          <a:custGeom>
            <a:avLst/>
            <a:gdLst/>
            <a:ahLst/>
            <a:cxnLst/>
            <a:rect l="l" t="t" r="r" b="b"/>
            <a:pathLst>
              <a:path w="2526954" h="1504950">
                <a:moveTo>
                  <a:pt x="0" y="0"/>
                </a:moveTo>
                <a:lnTo>
                  <a:pt x="2526954" y="0"/>
                </a:lnTo>
                <a:lnTo>
                  <a:pt x="2526954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3015901" y="3445202"/>
            <a:ext cx="2526954" cy="1504950"/>
          </a:xfrm>
          <a:custGeom>
            <a:avLst/>
            <a:gdLst/>
            <a:ahLst/>
            <a:cxnLst/>
            <a:rect l="l" t="t" r="r" b="b"/>
            <a:pathLst>
              <a:path w="2526954" h="1504950">
                <a:moveTo>
                  <a:pt x="0" y="0"/>
                </a:moveTo>
                <a:lnTo>
                  <a:pt x="2526954" y="0"/>
                </a:lnTo>
                <a:lnTo>
                  <a:pt x="2526954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0" y="7229799"/>
            <a:ext cx="10692003" cy="330203"/>
          </a:xfrm>
          <a:custGeom>
            <a:avLst/>
            <a:gdLst/>
            <a:ahLst/>
            <a:cxnLst/>
            <a:rect l="l" t="t" r="r" b="b"/>
            <a:pathLst>
              <a:path w="10692003" h="330203">
                <a:moveTo>
                  <a:pt x="0" y="0"/>
                </a:moveTo>
                <a:lnTo>
                  <a:pt x="10692003" y="0"/>
                </a:lnTo>
                <a:lnTo>
                  <a:pt x="10692003" y="330203"/>
                </a:lnTo>
                <a:lnTo>
                  <a:pt x="0" y="33020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308586" y="-1424"/>
            <a:ext cx="10123675" cy="6893252"/>
          </a:xfrm>
          <a:custGeom>
            <a:avLst/>
            <a:gdLst/>
            <a:ahLst/>
            <a:cxnLst/>
            <a:rect l="l" t="t" r="r" b="b"/>
            <a:pathLst>
              <a:path w="10123675" h="6893252">
                <a:moveTo>
                  <a:pt x="0" y="0"/>
                </a:moveTo>
                <a:lnTo>
                  <a:pt x="10123675" y="0"/>
                </a:lnTo>
                <a:lnTo>
                  <a:pt x="10123675" y="6893252"/>
                </a:lnTo>
                <a:lnTo>
                  <a:pt x="0" y="689325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423058" y="239014"/>
            <a:ext cx="951009" cy="257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00"/>
              </a:lnSpc>
            </a:pPr>
            <a:r>
              <a:rPr lang="en-US" sz="8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GLITCH</a:t>
            </a:r>
          </a:p>
          <a:p>
            <a:pPr algn="ctr">
              <a:lnSpc>
                <a:spcPts val="1000"/>
              </a:lnSpc>
            </a:pPr>
            <a:r>
              <a:rPr lang="en-US" sz="8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GODS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18936" y="3866698"/>
            <a:ext cx="2043514" cy="645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87"/>
              </a:lnSpc>
            </a:pPr>
            <a:r>
              <a:rPr lang="en-US" sz="1099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Smart bin sensors,</a:t>
            </a:r>
          </a:p>
          <a:p>
            <a:pPr algn="l">
              <a:lnSpc>
                <a:spcPts val="1787"/>
              </a:lnSpc>
            </a:pPr>
            <a:r>
              <a:rPr lang="en-US" sz="1099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IoT fill-level alerts, AI-optimised collection route planning.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02520" y="1822526"/>
            <a:ext cx="2059931" cy="645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87"/>
              </a:lnSpc>
            </a:pPr>
            <a:r>
              <a:rPr lang="en-US" sz="1099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AI-driven signal control via 5G edge nodes. Real-time rerouting</a:t>
            </a:r>
          </a:p>
          <a:p>
            <a:pPr algn="l">
              <a:lnSpc>
                <a:spcPts val="1787"/>
              </a:lnSpc>
            </a:pPr>
            <a:r>
              <a:rPr lang="en-US" sz="1099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&amp; congestion alerts.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202610" y="1757048"/>
            <a:ext cx="2066698" cy="645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87"/>
              </a:lnSpc>
            </a:pPr>
            <a:r>
              <a:rPr lang="en-US" sz="1099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Panic SOS routing, auto-dispatch to nearest unit, incident command dashboard.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248554" y="3866698"/>
            <a:ext cx="1931535" cy="645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87"/>
              </a:lnSpc>
            </a:pPr>
            <a:r>
              <a:rPr lang="en-US" sz="1099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Smart meter analytics, demand forecasting, renewable integration, grid anomaly alerts.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909042" y="145432"/>
            <a:ext cx="458467" cy="2815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9"/>
              </a:lnSpc>
            </a:pPr>
            <a:r>
              <a:rPr lang="en-US" sz="699" b="1">
                <a:solidFill>
                  <a:srgbClr val="00BCD4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NEXACITY</a:t>
            </a:r>
          </a:p>
          <a:p>
            <a:pPr algn="ctr">
              <a:lnSpc>
                <a:spcPts val="839"/>
              </a:lnSpc>
            </a:pPr>
            <a:r>
              <a:rPr lang="en-US" sz="600" b="1">
                <a:solidFill>
                  <a:srgbClr val="00BCD4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5G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441161" y="56540"/>
            <a:ext cx="1023509" cy="4402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1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PRABUDDHA</a:t>
            </a:r>
            <a:r>
              <a:rPr lang="en-US" sz="11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</a:p>
          <a:p>
            <a:pPr algn="l">
              <a:lnSpc>
                <a:spcPts val="1260"/>
              </a:lnSpc>
            </a:pPr>
            <a:r>
              <a:rPr lang="en-US" sz="9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TECHATHON2026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859323" y="1834131"/>
            <a:ext cx="4226397" cy="3806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04865" lvl="1" indent="-152432" algn="l">
              <a:lnSpc>
                <a:spcPts val="2510"/>
              </a:lnSpc>
              <a:buFont typeface="Arial"/>
              <a:buChar char="•"/>
            </a:pPr>
            <a:r>
              <a:rPr lang="en-US" sz="1412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Real-Time Intelligence:</a:t>
            </a:r>
            <a:r>
              <a:rPr lang="en-US" sz="1412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5G + edge computing for sub-10ms city decisions. </a:t>
            </a:r>
          </a:p>
          <a:p>
            <a:pPr marL="304865" lvl="1" indent="-152432" algn="l">
              <a:lnSpc>
                <a:spcPts val="2510"/>
              </a:lnSpc>
              <a:buFont typeface="Arial"/>
              <a:buChar char="•"/>
            </a:pPr>
            <a:r>
              <a:rPr lang="en-US" sz="1412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Modular Architecture:</a:t>
            </a:r>
            <a:r>
              <a:rPr lang="en-US" sz="1412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Plug-and-play subsystems per city's needs.</a:t>
            </a:r>
          </a:p>
          <a:p>
            <a:pPr marL="304865" lvl="1" indent="-152432" algn="l">
              <a:lnSpc>
                <a:spcPts val="2510"/>
              </a:lnSpc>
              <a:buFont typeface="Arial"/>
              <a:buChar char="•"/>
            </a:pPr>
            <a:r>
              <a:rPr lang="en-US" sz="1412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AI Predictive Analytics:</a:t>
            </a:r>
            <a:r>
              <a:rPr lang="en-US" sz="1412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Proactive alerts — not just reactive dashboards. </a:t>
            </a:r>
          </a:p>
          <a:p>
            <a:pPr marL="304865" lvl="1" indent="-152432" algn="l">
              <a:lnSpc>
                <a:spcPts val="2510"/>
              </a:lnSpc>
              <a:buFont typeface="Arial"/>
              <a:buChar char="•"/>
            </a:pPr>
            <a:r>
              <a:rPr lang="en-US" sz="1412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Scalable Deployment:</a:t>
            </a:r>
            <a:r>
              <a:rPr lang="en-US" sz="1412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Microservices design supports multi-city rollout. </a:t>
            </a:r>
          </a:p>
          <a:p>
            <a:pPr marL="304865" lvl="1" indent="-152432" algn="l">
              <a:lnSpc>
                <a:spcPts val="2510"/>
              </a:lnSpc>
              <a:buFont typeface="Arial"/>
              <a:buChar char="•"/>
            </a:pPr>
            <a:r>
              <a:rPr lang="en-US" sz="1412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Hybrid Connectivity:</a:t>
            </a:r>
            <a:r>
              <a:rPr lang="en-US" sz="1412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4G/5G fallback ensures 24x7 uptime reliability. </a:t>
            </a:r>
          </a:p>
          <a:p>
            <a:pPr marL="304865" lvl="1" indent="-152432" algn="l">
              <a:lnSpc>
                <a:spcPts val="2510"/>
              </a:lnSpc>
              <a:buFont typeface="Arial"/>
              <a:buChar char="•"/>
            </a:pPr>
            <a:r>
              <a:rPr lang="en-US" sz="1412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Citizen-First Interface:</a:t>
            </a:r>
            <a:r>
              <a:rPr lang="en-US" sz="1412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Multilingual React Native app with voice support.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399852" y="7293092"/>
            <a:ext cx="64818" cy="225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364667" y="46415"/>
            <a:ext cx="6081932" cy="5524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2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NexaCity5G – Smart City Platform Overview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00920" y="1543860"/>
            <a:ext cx="972922" cy="2045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Traffic Intelligence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73445" y="3575441"/>
            <a:ext cx="1027871" cy="2045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Waste Management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3909193" y="3575441"/>
            <a:ext cx="740369" cy="2045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Energy &amp; Grid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3628846" y="1543860"/>
            <a:ext cx="1150420" cy="2045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Emergency Response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859323" y="915286"/>
            <a:ext cx="585026" cy="315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01.</a:t>
            </a:r>
          </a:p>
          <a:p>
            <a:pPr algn="ctr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IoT Onboarding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926304" y="915286"/>
            <a:ext cx="636480" cy="315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02.</a:t>
            </a:r>
          </a:p>
          <a:p>
            <a:pPr algn="ctr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Edge Processing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119061" y="1075963"/>
            <a:ext cx="23412" cy="155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264300" y="915286"/>
            <a:ext cx="135045" cy="1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03.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273167" y="1075963"/>
            <a:ext cx="23412" cy="155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138275" y="915286"/>
            <a:ext cx="580234" cy="315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04.</a:t>
            </a:r>
          </a:p>
          <a:p>
            <a:pPr algn="ctr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City Dashboard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8057550" y="1075963"/>
            <a:ext cx="556822" cy="155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AI/ML Analysis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5625398" y="1366028"/>
            <a:ext cx="2409749" cy="2848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Unique Value Proposition (UVP):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19174" y="5716734"/>
            <a:ext cx="5839183" cy="912169"/>
          </a:xfrm>
          <a:custGeom>
            <a:avLst/>
            <a:gdLst/>
            <a:ahLst/>
            <a:cxnLst/>
            <a:rect l="l" t="t" r="r" b="b"/>
            <a:pathLst>
              <a:path w="5839183" h="912169">
                <a:moveTo>
                  <a:pt x="0" y="0"/>
                </a:moveTo>
                <a:lnTo>
                  <a:pt x="5839183" y="0"/>
                </a:lnTo>
                <a:lnTo>
                  <a:pt x="5839183" y="912169"/>
                </a:lnTo>
                <a:lnTo>
                  <a:pt x="0" y="91216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282578" y="130178"/>
            <a:ext cx="5114925" cy="552450"/>
          </a:xfrm>
          <a:custGeom>
            <a:avLst/>
            <a:gdLst/>
            <a:ahLst/>
            <a:cxnLst/>
            <a:rect l="l" t="t" r="r" b="b"/>
            <a:pathLst>
              <a:path w="5114925" h="552450">
                <a:moveTo>
                  <a:pt x="0" y="0"/>
                </a:moveTo>
                <a:lnTo>
                  <a:pt x="5114925" y="0"/>
                </a:lnTo>
                <a:lnTo>
                  <a:pt x="5114925" y="552450"/>
                </a:lnTo>
                <a:lnTo>
                  <a:pt x="0" y="5524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0" y="7229799"/>
            <a:ext cx="10692003" cy="330203"/>
          </a:xfrm>
          <a:custGeom>
            <a:avLst/>
            <a:gdLst/>
            <a:ahLst/>
            <a:cxnLst/>
            <a:rect l="l" t="t" r="r" b="b"/>
            <a:pathLst>
              <a:path w="10692003" h="330203">
                <a:moveTo>
                  <a:pt x="0" y="0"/>
                </a:moveTo>
                <a:lnTo>
                  <a:pt x="10692003" y="0"/>
                </a:lnTo>
                <a:lnTo>
                  <a:pt x="10692003" y="330203"/>
                </a:lnTo>
                <a:lnTo>
                  <a:pt x="0" y="33020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5409505" y="736597"/>
            <a:ext cx="5066605" cy="609600"/>
          </a:xfrm>
          <a:custGeom>
            <a:avLst/>
            <a:gdLst/>
            <a:ahLst/>
            <a:cxnLst/>
            <a:rect l="l" t="t" r="r" b="b"/>
            <a:pathLst>
              <a:path w="5066605" h="609600">
                <a:moveTo>
                  <a:pt x="0" y="0"/>
                </a:moveTo>
                <a:lnTo>
                  <a:pt x="5066604" y="0"/>
                </a:lnTo>
                <a:lnTo>
                  <a:pt x="5066604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5409505" y="1397003"/>
            <a:ext cx="5066605" cy="609600"/>
          </a:xfrm>
          <a:custGeom>
            <a:avLst/>
            <a:gdLst/>
            <a:ahLst/>
            <a:cxnLst/>
            <a:rect l="l" t="t" r="r" b="b"/>
            <a:pathLst>
              <a:path w="5066605" h="609600">
                <a:moveTo>
                  <a:pt x="0" y="0"/>
                </a:moveTo>
                <a:lnTo>
                  <a:pt x="5066604" y="0"/>
                </a:lnTo>
                <a:lnTo>
                  <a:pt x="5066604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5409505" y="2057400"/>
            <a:ext cx="5066605" cy="609600"/>
          </a:xfrm>
          <a:custGeom>
            <a:avLst/>
            <a:gdLst/>
            <a:ahLst/>
            <a:cxnLst/>
            <a:rect l="l" t="t" r="r" b="b"/>
            <a:pathLst>
              <a:path w="5066605" h="609600">
                <a:moveTo>
                  <a:pt x="0" y="0"/>
                </a:moveTo>
                <a:lnTo>
                  <a:pt x="5066604" y="0"/>
                </a:lnTo>
                <a:lnTo>
                  <a:pt x="5066604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5409505" y="2717797"/>
            <a:ext cx="5066605" cy="609600"/>
          </a:xfrm>
          <a:custGeom>
            <a:avLst/>
            <a:gdLst/>
            <a:ahLst/>
            <a:cxnLst/>
            <a:rect l="l" t="t" r="r" b="b"/>
            <a:pathLst>
              <a:path w="5066605" h="609600">
                <a:moveTo>
                  <a:pt x="0" y="0"/>
                </a:moveTo>
                <a:lnTo>
                  <a:pt x="5066604" y="0"/>
                </a:lnTo>
                <a:lnTo>
                  <a:pt x="5066604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5409505" y="3378203"/>
            <a:ext cx="5066605" cy="609600"/>
          </a:xfrm>
          <a:custGeom>
            <a:avLst/>
            <a:gdLst/>
            <a:ahLst/>
            <a:cxnLst/>
            <a:rect l="l" t="t" r="r" b="b"/>
            <a:pathLst>
              <a:path w="5066605" h="609600">
                <a:moveTo>
                  <a:pt x="0" y="0"/>
                </a:moveTo>
                <a:lnTo>
                  <a:pt x="5066604" y="0"/>
                </a:lnTo>
                <a:lnTo>
                  <a:pt x="5066604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8850497" y="101603"/>
            <a:ext cx="507997" cy="507997"/>
          </a:xfrm>
          <a:custGeom>
            <a:avLst/>
            <a:gdLst/>
            <a:ahLst/>
            <a:cxnLst/>
            <a:rect l="l" t="t" r="r" b="b"/>
            <a:pathLst>
              <a:path w="507997" h="507997">
                <a:moveTo>
                  <a:pt x="0" y="0"/>
                </a:moveTo>
                <a:lnTo>
                  <a:pt x="507996" y="0"/>
                </a:lnTo>
                <a:lnTo>
                  <a:pt x="507996" y="507997"/>
                </a:lnTo>
                <a:lnTo>
                  <a:pt x="0" y="5079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5574602" y="2147878"/>
            <a:ext cx="967511" cy="1930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"/>
              </a:lnSpc>
            </a:pPr>
            <a:r>
              <a:rPr lang="en-US" sz="8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AI Analytics Engine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574602" y="827084"/>
            <a:ext cx="1134456" cy="1930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"/>
              </a:lnSpc>
            </a:pPr>
            <a:r>
              <a:rPr lang="en-US" sz="8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IoT Device Onboarding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4602" y="1487481"/>
            <a:ext cx="1146172" cy="1930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"/>
              </a:lnSpc>
            </a:pPr>
            <a:r>
              <a:rPr lang="en-US" sz="8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Edge Processing Layer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574602" y="3468681"/>
            <a:ext cx="1162955" cy="1930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"/>
              </a:lnSpc>
            </a:pPr>
            <a:r>
              <a:rPr lang="en-US" sz="8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Authority &amp; Citizen App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574602" y="2808275"/>
            <a:ext cx="1301306" cy="1930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"/>
              </a:lnSpc>
            </a:pPr>
            <a:r>
              <a:rPr lang="en-US" sz="8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City Command Dashboard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879757" y="184337"/>
            <a:ext cx="458467" cy="2815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9"/>
              </a:lnSpc>
            </a:pPr>
            <a:r>
              <a:rPr lang="en-US" sz="699" b="1">
                <a:solidFill>
                  <a:srgbClr val="00BCD4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NEXACITY</a:t>
            </a:r>
          </a:p>
          <a:p>
            <a:pPr algn="ctr">
              <a:lnSpc>
                <a:spcPts val="839"/>
              </a:lnSpc>
            </a:pPr>
            <a:r>
              <a:rPr lang="en-US" sz="600" b="1">
                <a:solidFill>
                  <a:srgbClr val="00BCD4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5G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396603" y="56540"/>
            <a:ext cx="1023509" cy="4402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1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PRABUDDHA</a:t>
            </a:r>
            <a:r>
              <a:rPr lang="en-US" sz="11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</a:p>
          <a:p>
            <a:pPr algn="l">
              <a:lnSpc>
                <a:spcPts val="1260"/>
              </a:lnSpc>
            </a:pPr>
            <a:r>
              <a:rPr lang="en-US" sz="9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TECHATHON2026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39207" y="5792934"/>
            <a:ext cx="867985" cy="225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Product Status: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91124" y="4814297"/>
            <a:ext cx="30613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399852" y="7293092"/>
            <a:ext cx="64818" cy="225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3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24925" y="172781"/>
            <a:ext cx="682781" cy="3840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1"/>
              </a:lnSpc>
            </a:pPr>
            <a:r>
              <a:rPr lang="en-US" sz="8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GLITCH</a:t>
            </a:r>
          </a:p>
          <a:p>
            <a:pPr algn="ctr">
              <a:lnSpc>
                <a:spcPts val="1551"/>
              </a:lnSpc>
            </a:pPr>
            <a:r>
              <a:rPr lang="en-US" sz="8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GODS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960451" y="53137"/>
            <a:ext cx="2771099" cy="412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2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Technical Approach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24925" y="862470"/>
            <a:ext cx="3890787" cy="5695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</a:p>
          <a:p>
            <a:pPr algn="l">
              <a:lnSpc>
                <a:spcPts val="1540"/>
              </a:lnSpc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Cross-platformmobileapp with real-time city dashboards, alerts,SOS,andmultilingualvoice interface.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57856" y="1613897"/>
            <a:ext cx="30613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39207" y="2085118"/>
            <a:ext cx="935669" cy="2580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 b="1">
                <a:solidFill>
                  <a:srgbClr val="1565C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AI / ML Engine: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009926" y="3175997"/>
            <a:ext cx="30613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426215" y="4241198"/>
            <a:ext cx="1000696" cy="2580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 b="1">
                <a:solidFill>
                  <a:srgbClr val="C62828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Database Stack: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291885" y="3544300"/>
            <a:ext cx="30613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83834" y="3696700"/>
            <a:ext cx="30613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439207" y="4935684"/>
            <a:ext cx="1262882" cy="2580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 b="1">
                <a:solidFill>
                  <a:srgbClr val="00BCD4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Cloud (AWS + CDN):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835904" y="4064994"/>
            <a:ext cx="30613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439207" y="2751684"/>
            <a:ext cx="1288409" cy="2580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 b="1">
                <a:solidFill>
                  <a:srgbClr val="7B1FA2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MQTT / WebSockets: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426215" y="807015"/>
            <a:ext cx="1504217" cy="2580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React</a:t>
            </a:r>
            <a:r>
              <a:rPr lang="en-US" sz="10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  <a:r>
              <a:rPr lang="en-US" sz="10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Native</a:t>
            </a:r>
            <a:r>
              <a:rPr lang="en-US" sz="10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  <a:r>
              <a:rPr lang="en-US" sz="10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(Frontend):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411605" y="940794"/>
            <a:ext cx="30613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97944" y="2655294"/>
            <a:ext cx="30613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426215" y="3499790"/>
            <a:ext cx="1698403" cy="2580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 b="1">
                <a:solidFill>
                  <a:srgbClr val="F57C0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5G Edge Computing (MEC):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537802" y="3023597"/>
            <a:ext cx="30613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997829" y="1093194"/>
            <a:ext cx="30613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439207" y="1422540"/>
            <a:ext cx="1803197" cy="2580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 b="1">
                <a:solidFill>
                  <a:srgbClr val="00897B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Node.js + FastAPI (Backend):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363570" y="1461497"/>
            <a:ext cx="30613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424925" y="1684115"/>
            <a:ext cx="3893378" cy="381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MicroservicesAPIshandlingIoT data ingestion, city modulecoordination, and RESTful communication.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439207" y="2333625"/>
            <a:ext cx="4153001" cy="37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53"/>
              </a:lnSpc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Traffic prediction (LSTM), anomaly detection (Isolation Forest), demand forecasting (ARIMA + XGBoost).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439207" y="3782698"/>
            <a:ext cx="3893378" cy="381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On-premise edgenodeshandle latency-critical decisions beforedata reaches cloud — sub-10ms response.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439207" y="5204398"/>
            <a:ext cx="4158059" cy="381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S3 formodelstorage, Lambda for serverless processing, CloudFront CDN for dashboard asset delivery.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439207" y="4487374"/>
            <a:ext cx="4158059" cy="381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PostgreSQL(structured), InfluxDB (time-series IoT data), MongoDB(logs),Firebase (auth &amp; push notifications).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424925" y="3041955"/>
            <a:ext cx="4158059" cy="381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Real-time bidirectional communication between IoT edge beforedata reaches cloud — sub-10ms response.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439207" y="5916759"/>
            <a:ext cx="3921587" cy="572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Coremodules —IoT simulator, AI engine, React Native app, and admin dashboard — built. Integration into unified platform in progress.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5896823" y="1720348"/>
            <a:ext cx="378990" cy="168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Raw Data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5876182" y="3701548"/>
            <a:ext cx="421091" cy="168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Push Alert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5839492" y="3041152"/>
            <a:ext cx="495948" cy="168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Alert Engine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5832643" y="2380745"/>
            <a:ext cx="509921" cy="168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Traffic LSTM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733945" y="1059952"/>
            <a:ext cx="711251" cy="168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Simulated Sensor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926742" y="3041152"/>
            <a:ext cx="402393" cy="168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Heatmaps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6908416" y="3701548"/>
            <a:ext cx="439779" cy="168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SOS Route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6899177" y="1720348"/>
            <a:ext cx="458648" cy="168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Preprocess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6862562" y="1059952"/>
            <a:ext cx="533333" cy="168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MQTT Broker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6812080" y="2380745"/>
            <a:ext cx="636308" cy="168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Anomaly Detect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7949822" y="1059952"/>
            <a:ext cx="439779" cy="168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Edge Node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7920018" y="3701548"/>
            <a:ext cx="500577" cy="168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Incident Log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7883366" y="3041152"/>
            <a:ext cx="575348" cy="168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Auto-Dispatch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7855839" y="2380745"/>
            <a:ext cx="631507" cy="168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Demand ARIMA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7864916" y="1720348"/>
            <a:ext cx="612981" cy="168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Feature Extract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82578" y="38100"/>
            <a:ext cx="10117322" cy="644528"/>
          </a:xfrm>
          <a:custGeom>
            <a:avLst/>
            <a:gdLst/>
            <a:ahLst/>
            <a:cxnLst/>
            <a:rect l="l" t="t" r="r" b="b"/>
            <a:pathLst>
              <a:path w="10117322" h="644528">
                <a:moveTo>
                  <a:pt x="0" y="0"/>
                </a:moveTo>
                <a:lnTo>
                  <a:pt x="10117322" y="0"/>
                </a:lnTo>
                <a:lnTo>
                  <a:pt x="10117322" y="644528"/>
                </a:lnTo>
                <a:lnTo>
                  <a:pt x="0" y="6445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63503" y="695963"/>
            <a:ext cx="10819000" cy="6927542"/>
          </a:xfrm>
          <a:custGeom>
            <a:avLst/>
            <a:gdLst/>
            <a:ahLst/>
            <a:cxnLst/>
            <a:rect l="l" t="t" r="r" b="b"/>
            <a:pathLst>
              <a:path w="10819000" h="6927542">
                <a:moveTo>
                  <a:pt x="0" y="0"/>
                </a:moveTo>
                <a:lnTo>
                  <a:pt x="10819000" y="0"/>
                </a:lnTo>
                <a:lnTo>
                  <a:pt x="10819000" y="6927542"/>
                </a:lnTo>
                <a:lnTo>
                  <a:pt x="0" y="692754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586483" y="290970"/>
            <a:ext cx="437740" cy="257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00"/>
              </a:lnSpc>
            </a:pPr>
            <a:r>
              <a:rPr lang="en-US" sz="8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GLITCH GODS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57200" y="3355658"/>
            <a:ext cx="755618" cy="17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79"/>
              </a:lnSpc>
            </a:pPr>
            <a:r>
              <a:rPr lang="en-US" sz="699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C: AI ANALYTICS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57200" y="2062105"/>
            <a:ext cx="1007707" cy="17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79"/>
              </a:lnSpc>
            </a:pPr>
            <a:r>
              <a:rPr lang="en-US" sz="699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B: EDGE PROCESSING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57200" y="4649219"/>
            <a:ext cx="1027748" cy="17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79"/>
              </a:lnSpc>
            </a:pPr>
            <a:r>
              <a:rPr lang="en-US" sz="699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D: GEO-ALERT ENGINE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57200" y="5942781"/>
            <a:ext cx="1324985" cy="17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79"/>
              </a:lnSpc>
            </a:pPr>
            <a:r>
              <a:rPr lang="en-US" sz="699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E: DASHBOARD &amp; RESPONSE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57200" y="768544"/>
            <a:ext cx="1329976" cy="17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79"/>
              </a:lnSpc>
            </a:pPr>
            <a:r>
              <a:rPr lang="en-US" sz="699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A: IoT ONBOARDING &amp; SETUP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143621" y="5207098"/>
            <a:ext cx="403155" cy="2844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00"/>
              </a:lnSpc>
            </a:pPr>
            <a:r>
              <a:rPr lang="en-US" sz="699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Zone Classify?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163038" y="2619985"/>
            <a:ext cx="382934" cy="2844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00"/>
              </a:lnSpc>
            </a:pPr>
            <a:r>
              <a:rPr lang="en-US" sz="699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Anomaly Detect?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879757" y="184337"/>
            <a:ext cx="458467" cy="2815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9"/>
              </a:lnSpc>
            </a:pPr>
            <a:r>
              <a:rPr lang="en-US" sz="699" b="1">
                <a:solidFill>
                  <a:srgbClr val="00BCD4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NEXACITY</a:t>
            </a:r>
          </a:p>
          <a:p>
            <a:pPr algn="ctr">
              <a:lnSpc>
                <a:spcPts val="839"/>
              </a:lnSpc>
            </a:pPr>
            <a:r>
              <a:rPr lang="en-US" sz="600" b="1">
                <a:solidFill>
                  <a:srgbClr val="00BCD4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5G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379346" y="5569753"/>
            <a:ext cx="151095" cy="135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39"/>
              </a:lnSpc>
            </a:pPr>
            <a:r>
              <a:rPr lang="en-US" sz="600">
                <a:solidFill>
                  <a:srgbClr val="C62828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Risk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396603" y="56540"/>
            <a:ext cx="1023509" cy="4402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1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PRABUDDHA</a:t>
            </a:r>
            <a:r>
              <a:rPr lang="en-US" sz="11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</a:p>
          <a:p>
            <a:pPr algn="l">
              <a:lnSpc>
                <a:spcPts val="1260"/>
              </a:lnSpc>
            </a:pPr>
            <a:r>
              <a:rPr lang="en-US" sz="9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TECHATHON2026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399852" y="7293092"/>
            <a:ext cx="64818" cy="225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4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135184" y="20612"/>
            <a:ext cx="2470071" cy="5887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METHODOLOGY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88339" y="6482305"/>
            <a:ext cx="302247" cy="315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Admin</a:t>
            </a:r>
          </a:p>
          <a:p>
            <a:pPr algn="ctr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Login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85136" y="1308068"/>
            <a:ext cx="512788" cy="315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City Admin</a:t>
            </a:r>
          </a:p>
          <a:p>
            <a:pPr algn="ctr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Registers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63895" y="2601630"/>
            <a:ext cx="556117" cy="1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Raw Sensor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377772" y="2762307"/>
            <a:ext cx="23412" cy="155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024223" y="5188744"/>
            <a:ext cx="637042" cy="315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GPS Location</a:t>
            </a:r>
          </a:p>
          <a:p>
            <a:pPr algn="ctr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Check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381887" y="3885657"/>
            <a:ext cx="296904" cy="3245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7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Traffic</a:t>
            </a:r>
          </a:p>
          <a:p>
            <a:pPr algn="ctr">
              <a:lnSpc>
                <a:spcPts val="976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3173797" y="6482305"/>
            <a:ext cx="341605" cy="315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Live</a:t>
            </a:r>
          </a:p>
          <a:p>
            <a:pPr algn="ctr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Heatmap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3116361" y="1308068"/>
            <a:ext cx="458762" cy="1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Configure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3382566" y="1468745"/>
            <a:ext cx="23412" cy="155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081833" y="2601630"/>
            <a:ext cx="529199" cy="1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Preprocess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3265589" y="2762307"/>
            <a:ext cx="23412" cy="155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3138030" y="3895182"/>
            <a:ext cx="453523" cy="315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Waste Fill</a:t>
            </a:r>
          </a:p>
          <a:p>
            <a:pPr algn="ctr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Predictor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936512" y="3895182"/>
            <a:ext cx="523761" cy="315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Emergency</a:t>
            </a:r>
          </a:p>
          <a:p>
            <a:pPr algn="ctr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ARIMA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5162493" y="2601630"/>
            <a:ext cx="374361" cy="315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Feature</a:t>
            </a:r>
          </a:p>
          <a:p>
            <a:pPr algn="ctr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Extraction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5163407" y="6472780"/>
            <a:ext cx="372494" cy="3245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7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Incident</a:t>
            </a:r>
          </a:p>
          <a:p>
            <a:pPr algn="ctr">
              <a:lnSpc>
                <a:spcPts val="976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118402" y="5188744"/>
            <a:ext cx="464306" cy="1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Safe Zone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114858" y="5347383"/>
            <a:ext cx="106518" cy="161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 spc="117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→ 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044345" y="1308068"/>
            <a:ext cx="615382" cy="315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MQTT Broker</a:t>
            </a:r>
          </a:p>
          <a:p>
            <a:pPr algn="ctr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Setup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7190194" y="6482305"/>
            <a:ext cx="327546" cy="315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Auto</a:t>
            </a:r>
          </a:p>
          <a:p>
            <a:pPr algn="ctr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Dispatch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114680" y="3895182"/>
            <a:ext cx="442636" cy="315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AI Fusion</a:t>
            </a:r>
          </a:p>
          <a:p>
            <a:pPr algn="ctr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Layer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7123147" y="5188744"/>
            <a:ext cx="464306" cy="1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Risk Zone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121919" y="5347383"/>
            <a:ext cx="106518" cy="161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 spc="117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→ 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7102002" y="1308068"/>
            <a:ext cx="507444" cy="315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Edge Node</a:t>
            </a:r>
          </a:p>
          <a:p>
            <a:pPr algn="ctr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Pairing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9183462" y="6482305"/>
            <a:ext cx="350949" cy="315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City</a:t>
            </a:r>
          </a:p>
          <a:p>
            <a:pPr algn="ctr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Resolved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9143762" y="1308068"/>
            <a:ext cx="431949" cy="315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Live Data</a:t>
            </a:r>
          </a:p>
          <a:p>
            <a:pPr algn="ctr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Streaming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9114758" y="5188744"/>
            <a:ext cx="491119" cy="1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Notify App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9176576" y="5349421"/>
            <a:ext cx="23412" cy="155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9109424" y="2601630"/>
            <a:ext cx="501996" cy="1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Forward to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9254538" y="2762307"/>
            <a:ext cx="23412" cy="155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9242412" y="3895182"/>
            <a:ext cx="464401" cy="1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lang="en-US" sz="7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Predictive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9513646" y="4055869"/>
            <a:ext cx="23412" cy="155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203427" y="2762307"/>
            <a:ext cx="271462" cy="155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Data In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293485" y="4055869"/>
            <a:ext cx="477250" cy="155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LSTM Model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3210535" y="2762307"/>
            <a:ext cx="266662" cy="155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&amp;Filter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3121047" y="1468745"/>
            <a:ext cx="449209" cy="155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SensorGrid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4246026" y="5222424"/>
            <a:ext cx="173203" cy="155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>
                <a:solidFill>
                  <a:srgbClr val="90A4AE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Safe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5180819" y="6642983"/>
            <a:ext cx="336975" cy="155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Alert Log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5219290" y="5349421"/>
            <a:ext cx="365008" cy="155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No Action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7226351" y="5349421"/>
            <a:ext cx="360293" cy="155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Geo-Alert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7401554" y="2936348"/>
            <a:ext cx="424710" cy="1649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>
                <a:solidFill>
                  <a:srgbClr val="C62828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YES→Alert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9176528" y="2762307"/>
            <a:ext cx="365093" cy="155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AI Engine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9121511" y="5349421"/>
            <a:ext cx="477336" cy="155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&amp; Authorities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9270454" y="4055869"/>
            <a:ext cx="407194" cy="155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lang="en-US" sz="6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Insight Out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439858" y="951452"/>
            <a:ext cx="2540003" cy="12697"/>
          </a:xfrm>
          <a:custGeom>
            <a:avLst/>
            <a:gdLst/>
            <a:ahLst/>
            <a:cxnLst/>
            <a:rect l="l" t="t" r="r" b="b"/>
            <a:pathLst>
              <a:path w="2540003" h="12697">
                <a:moveTo>
                  <a:pt x="0" y="0"/>
                </a:moveTo>
                <a:lnTo>
                  <a:pt x="2540003" y="0"/>
                </a:lnTo>
                <a:lnTo>
                  <a:pt x="2540003" y="12697"/>
                </a:lnTo>
                <a:lnTo>
                  <a:pt x="0" y="126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0" y="7229799"/>
            <a:ext cx="10692003" cy="330203"/>
          </a:xfrm>
          <a:custGeom>
            <a:avLst/>
            <a:gdLst/>
            <a:ahLst/>
            <a:cxnLst/>
            <a:rect l="l" t="t" r="r" b="b"/>
            <a:pathLst>
              <a:path w="10692003" h="330203">
                <a:moveTo>
                  <a:pt x="0" y="0"/>
                </a:moveTo>
                <a:lnTo>
                  <a:pt x="10692003" y="0"/>
                </a:lnTo>
                <a:lnTo>
                  <a:pt x="10692003" y="330203"/>
                </a:lnTo>
                <a:lnTo>
                  <a:pt x="0" y="33020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8850497" y="101603"/>
            <a:ext cx="507997" cy="507997"/>
          </a:xfrm>
          <a:custGeom>
            <a:avLst/>
            <a:gdLst/>
            <a:ahLst/>
            <a:cxnLst/>
            <a:rect l="l" t="t" r="r" b="b"/>
            <a:pathLst>
              <a:path w="507997" h="507997">
                <a:moveTo>
                  <a:pt x="0" y="0"/>
                </a:moveTo>
                <a:lnTo>
                  <a:pt x="507996" y="0"/>
                </a:lnTo>
                <a:lnTo>
                  <a:pt x="507996" y="507997"/>
                </a:lnTo>
                <a:lnTo>
                  <a:pt x="0" y="5079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496719" y="756000"/>
            <a:ext cx="4254567" cy="6385842"/>
          </a:xfrm>
          <a:custGeom>
            <a:avLst/>
            <a:gdLst/>
            <a:ahLst/>
            <a:cxnLst/>
            <a:rect l="l" t="t" r="r" b="b"/>
            <a:pathLst>
              <a:path w="4254567" h="6385842">
                <a:moveTo>
                  <a:pt x="0" y="0"/>
                </a:moveTo>
                <a:lnTo>
                  <a:pt x="4254567" y="0"/>
                </a:lnTo>
                <a:lnTo>
                  <a:pt x="4254567" y="6385842"/>
                </a:lnTo>
                <a:lnTo>
                  <a:pt x="0" y="638584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8879757" y="184337"/>
            <a:ext cx="458467" cy="2815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9"/>
              </a:lnSpc>
            </a:pPr>
            <a:r>
              <a:rPr lang="en-US" sz="699" b="1">
                <a:solidFill>
                  <a:srgbClr val="00BCD4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NEXACITY</a:t>
            </a:r>
          </a:p>
          <a:p>
            <a:pPr algn="ctr">
              <a:lnSpc>
                <a:spcPts val="839"/>
              </a:lnSpc>
            </a:pPr>
            <a:r>
              <a:rPr lang="en-US" sz="600" b="1">
                <a:solidFill>
                  <a:srgbClr val="00BCD4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5G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460302" y="695547"/>
            <a:ext cx="749335" cy="25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9"/>
              </a:lnSpc>
            </a:pPr>
            <a:r>
              <a:rPr lang="en-US" sz="1399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Actors: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460302" y="4053805"/>
            <a:ext cx="1625676" cy="229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19"/>
              </a:lnSpc>
            </a:pPr>
            <a:r>
              <a:rPr lang="en-US" sz="1299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System Functions: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396603" y="56540"/>
            <a:ext cx="1023509" cy="4402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1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PRABUDDHA</a:t>
            </a:r>
            <a:r>
              <a:rPr lang="en-US" sz="11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</a:p>
          <a:p>
            <a:pPr algn="l">
              <a:lnSpc>
                <a:spcPts val="1260"/>
              </a:lnSpc>
            </a:pPr>
            <a:r>
              <a:rPr lang="en-US" sz="9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TECHATHON2026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848407" y="1953806"/>
            <a:ext cx="36014" cy="2580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460302" y="2860808"/>
            <a:ext cx="3331326" cy="3624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66"/>
              </a:lnSpc>
            </a:pPr>
            <a:r>
              <a:rPr lang="en-US" sz="1099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Monitors dashboards, verifies incidents, and triggers emergency dispatch.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460302" y="3568249"/>
            <a:ext cx="3536997" cy="3624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66"/>
              </a:lnSpc>
            </a:pPr>
            <a:r>
              <a:rPr lang="en-US" sz="1099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Receives real-time alerts, SOS routing, and city service updates.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714295" y="1407709"/>
            <a:ext cx="36014" cy="2580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439858" y="2116118"/>
            <a:ext cx="3292240" cy="3624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66"/>
              </a:lnSpc>
            </a:pPr>
            <a:r>
              <a:rPr lang="en-US" sz="1099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Simulated 5G-connected devices sending real-time urban data streams.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763701" y="861603"/>
            <a:ext cx="36014" cy="2580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460302" y="1360278"/>
            <a:ext cx="3662020" cy="3624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66"/>
              </a:lnSpc>
            </a:pPr>
            <a:r>
              <a:rPr lang="en-US" sz="1099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Registers city, configures IoT sensors, and manages the platform.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399852" y="7293092"/>
            <a:ext cx="64818" cy="225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5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96719" y="98612"/>
            <a:ext cx="656797" cy="473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lang="en-US" sz="8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GLITCH GODS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304605" y="99687"/>
            <a:ext cx="2311394" cy="412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2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CASE DIAGRAM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5460302" y="1025633"/>
            <a:ext cx="1407485" cy="229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19"/>
              </a:lnSpc>
            </a:pPr>
            <a:r>
              <a:rPr lang="en-US" sz="1299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City</a:t>
            </a:r>
            <a:r>
              <a:rPr lang="en-US" sz="1299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  <a:r>
              <a:rPr lang="en-US" sz="1299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Admin: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439858" y="1794761"/>
            <a:ext cx="1092194" cy="229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19"/>
              </a:lnSpc>
            </a:pPr>
            <a:r>
              <a:rPr lang="en-US" sz="1299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IoT</a:t>
            </a:r>
            <a:r>
              <a:rPr lang="en-US" sz="1299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  <a:r>
              <a:rPr lang="en-US" sz="1299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Sensors: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460302" y="3260058"/>
            <a:ext cx="1470989" cy="229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19"/>
              </a:lnSpc>
            </a:pPr>
            <a:r>
              <a:rPr lang="en-US" sz="1299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Citizens / App: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460302" y="2554738"/>
            <a:ext cx="1625676" cy="229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19"/>
              </a:lnSpc>
            </a:pPr>
            <a:r>
              <a:rPr lang="en-US" sz="1299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Govt.</a:t>
            </a:r>
            <a:r>
              <a:rPr lang="en-US" sz="1299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  <a:r>
              <a:rPr lang="en-US" sz="1299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Authority: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5460302" y="4346802"/>
            <a:ext cx="4272434" cy="1132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37491" lvl="1" indent="-118745" algn="l">
              <a:lnSpc>
                <a:spcPts val="1852"/>
              </a:lnSpc>
              <a:buFont typeface="Arial"/>
              <a:buChar char="•"/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IoT Grid Setup &amp; Live Data Streaming (device management) </a:t>
            </a:r>
          </a:p>
          <a:p>
            <a:pPr marL="237491" lvl="1" indent="-118745" algn="l">
              <a:lnSpc>
                <a:spcPts val="1852"/>
              </a:lnSpc>
              <a:buFont typeface="Arial"/>
              <a:buChar char="•"/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AI Anomaly Detection (traffic, waste, emergency)</a:t>
            </a:r>
          </a:p>
          <a:p>
            <a:pPr marL="237491" lvl="1" indent="-118745" algn="l">
              <a:lnSpc>
                <a:spcPts val="1852"/>
              </a:lnSpc>
              <a:buFont typeface="Arial"/>
              <a:buChar char="•"/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Geo-Zone Breach Alerts (real-time boundary enforcement)</a:t>
            </a:r>
          </a:p>
          <a:p>
            <a:pPr marL="237491" lvl="1" indent="-118745" algn="l">
              <a:lnSpc>
                <a:spcPts val="1852"/>
              </a:lnSpc>
              <a:buFont typeface="Arial"/>
              <a:buChar char="•"/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Emergency SOS Auto-Dispatch (multi-level escalation)</a:t>
            </a:r>
          </a:p>
          <a:p>
            <a:pPr marL="237491" lvl="1" indent="-118745" algn="l">
              <a:lnSpc>
                <a:spcPts val="1852"/>
              </a:lnSpc>
              <a:buFont typeface="Arial"/>
              <a:buChar char="•"/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City Dashboard Heatmaps &amp; Incident Reports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63503" y="38100"/>
            <a:ext cx="10819000" cy="7585396"/>
          </a:xfrm>
          <a:custGeom>
            <a:avLst/>
            <a:gdLst/>
            <a:ahLst/>
            <a:cxnLst/>
            <a:rect l="l" t="t" r="r" b="b"/>
            <a:pathLst>
              <a:path w="10819000" h="7585396">
                <a:moveTo>
                  <a:pt x="0" y="0"/>
                </a:moveTo>
                <a:lnTo>
                  <a:pt x="10819000" y="0"/>
                </a:lnTo>
                <a:lnTo>
                  <a:pt x="10819000" y="7585396"/>
                </a:lnTo>
                <a:lnTo>
                  <a:pt x="0" y="7585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22297" y="279943"/>
            <a:ext cx="437740" cy="257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00"/>
              </a:lnSpc>
            </a:pPr>
            <a:r>
              <a:rPr lang="en-US" sz="8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GLITCH GODS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879757" y="184337"/>
            <a:ext cx="458467" cy="2815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9"/>
              </a:lnSpc>
            </a:pPr>
            <a:r>
              <a:rPr lang="en-US" sz="699" b="1">
                <a:solidFill>
                  <a:srgbClr val="00BCD4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NEXACITY</a:t>
            </a:r>
          </a:p>
          <a:p>
            <a:pPr algn="ctr">
              <a:lnSpc>
                <a:spcPts val="839"/>
              </a:lnSpc>
            </a:pPr>
            <a:r>
              <a:rPr lang="en-US" sz="600" b="1">
                <a:solidFill>
                  <a:srgbClr val="00BCD4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5G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189750" y="539144"/>
            <a:ext cx="1322632" cy="2809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1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Feasibility Analysis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304713" y="539144"/>
            <a:ext cx="1172156" cy="2809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1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Viability Analysis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396603" y="56540"/>
            <a:ext cx="1023509" cy="4402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1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PRABUDDHA</a:t>
            </a:r>
            <a:r>
              <a:rPr lang="en-US" sz="11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</a:p>
          <a:p>
            <a:pPr algn="l">
              <a:lnSpc>
                <a:spcPts val="1260"/>
              </a:lnSpc>
            </a:pPr>
            <a:r>
              <a:rPr lang="en-US" sz="9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TECHATHON</a:t>
            </a:r>
            <a:r>
              <a:rPr lang="en-US" sz="9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  <a:r>
              <a:rPr lang="en-US" sz="9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2026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399852" y="7293092"/>
            <a:ext cx="64818" cy="225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6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436582" y="46415"/>
            <a:ext cx="3895220" cy="5524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2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FEASIBILITY AND VIABILITY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57200" y="3173559"/>
            <a:ext cx="1732550" cy="229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19"/>
              </a:lnSpc>
            </a:pPr>
            <a:r>
              <a:rPr lang="en-US" sz="1299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Social Feasibility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32588" y="1382078"/>
            <a:ext cx="2393866" cy="229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19"/>
              </a:lnSpc>
            </a:pPr>
            <a:r>
              <a:rPr lang="en-US" sz="1299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Technical Feasibility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714214" y="1105900"/>
            <a:ext cx="30613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565C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57200" y="2191931"/>
            <a:ext cx="2032815" cy="229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19"/>
              </a:lnSpc>
            </a:pPr>
            <a:r>
              <a:rPr lang="en-US" sz="1299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Operational Feasibility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81979" y="1690097"/>
            <a:ext cx="30613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525491" y="1248321"/>
            <a:ext cx="1806311" cy="229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19"/>
              </a:lnSpc>
            </a:pPr>
            <a:r>
              <a:rPr lang="en-US" sz="1299" b="1">
                <a:solidFill>
                  <a:srgbClr val="00897B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Economic Viability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873467" y="1105900"/>
            <a:ext cx="30613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580224" y="3157680"/>
            <a:ext cx="2027524" cy="229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19"/>
              </a:lnSpc>
            </a:pPr>
            <a:r>
              <a:rPr lang="en-US" sz="1299" b="1">
                <a:solidFill>
                  <a:srgbClr val="00897B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Market &amp; Scale Viability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803450" y="2426694"/>
            <a:ext cx="30613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541416" y="2353138"/>
            <a:ext cx="2585295" cy="229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19"/>
              </a:lnSpc>
            </a:pPr>
            <a:r>
              <a:rPr lang="en-US" sz="1299" b="1">
                <a:solidFill>
                  <a:srgbClr val="00897B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Government &amp; Policy Viability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563373" y="1842497"/>
            <a:ext cx="30613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57200" y="3436031"/>
            <a:ext cx="3120867" cy="760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37491" lvl="1" indent="-118745" algn="l">
              <a:lnSpc>
                <a:spcPts val="1553"/>
              </a:lnSpc>
              <a:buFont typeface="Arial"/>
              <a:buChar char="•"/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Multilingual citizen app, voice SOS, and inclusive </a:t>
            </a:r>
          </a:p>
          <a:p>
            <a:pPr marL="237491" lvl="1" indent="-118745" algn="l">
              <a:lnSpc>
                <a:spcPts val="1553"/>
              </a:lnSpc>
              <a:buFont typeface="Arial"/>
              <a:buChar char="•"/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UI support diverse urban populations across India.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57200" y="1640523"/>
            <a:ext cx="3140610" cy="5704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37491" lvl="1" indent="-118745" algn="l">
              <a:lnSpc>
                <a:spcPts val="1553"/>
              </a:lnSpc>
              <a:buFont typeface="Arial"/>
              <a:buChar char="•"/>
            </a:pPr>
            <a:r>
              <a:rPr lang="en-US" sz="1100">
                <a:solidFill>
                  <a:srgbClr val="1565C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React Native, FastAPI,Node.js, Python  </a:t>
            </a:r>
          </a:p>
          <a:p>
            <a:pPr marL="237491" lvl="1" indent="-118745" algn="l">
              <a:lnSpc>
                <a:spcPts val="1553"/>
              </a:lnSpc>
              <a:buFont typeface="Arial"/>
              <a:buChar char="•"/>
            </a:pPr>
            <a:r>
              <a:rPr lang="en-US" sz="1100">
                <a:solidFill>
                  <a:srgbClr val="1565C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ML, MQTT, AWS, InfluxDB — all production-ready frameworks.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57200" y="2430609"/>
            <a:ext cx="2600773" cy="762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37491" lvl="1" indent="-118745" algn="l">
              <a:lnSpc>
                <a:spcPts val="1540"/>
              </a:lnSpc>
              <a:buFont typeface="Arial"/>
              <a:buChar char="•"/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Microservicesdesign allows independent deployment</a:t>
            </a:r>
          </a:p>
          <a:p>
            <a:pPr marL="237491" lvl="1" indent="-118745" algn="l">
              <a:lnSpc>
                <a:spcPts val="1540"/>
              </a:lnSpc>
              <a:buFont typeface="Arial"/>
              <a:buChar char="•"/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Of traffic, waste, and emergency modules per city.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5541416" y="1468666"/>
            <a:ext cx="3098656" cy="953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37491" lvl="1" indent="-118745" algn="l">
              <a:lnSpc>
                <a:spcPts val="1540"/>
              </a:lnSpc>
              <a:buFont typeface="Arial"/>
              <a:buChar char="•"/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Builton AWS free tier + open-source frameworks,</a:t>
            </a:r>
          </a:p>
          <a:p>
            <a:pPr marL="237491" lvl="1" indent="-118745" algn="l">
              <a:lnSpc>
                <a:spcPts val="1540"/>
              </a:lnSpc>
              <a:buFont typeface="Arial"/>
              <a:buChar char="•"/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low-cost pilot-first rollout with strong </a:t>
            </a:r>
          </a:p>
          <a:p>
            <a:pPr marL="237491" lvl="1" indent="-118745" algn="l">
              <a:lnSpc>
                <a:spcPts val="1540"/>
              </a:lnSpc>
              <a:buFont typeface="Arial"/>
              <a:buChar char="•"/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ROI via reduced urban incident costs and fuel savings.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580224" y="2621109"/>
            <a:ext cx="3103158" cy="572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37491" lvl="1" indent="-118745" algn="l">
              <a:lnSpc>
                <a:spcPts val="1540"/>
              </a:lnSpc>
              <a:buFont typeface="Arial"/>
              <a:buChar char="•"/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Aligned with SmartCities Mission(MoHUA) and</a:t>
            </a:r>
          </a:p>
          <a:p>
            <a:pPr marL="237491" lvl="1" indent="-118745" algn="l">
              <a:lnSpc>
                <a:spcPts val="1540"/>
              </a:lnSpc>
              <a:buFont typeface="Arial"/>
              <a:buChar char="•"/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Digital India frameworks. DPDP Act 2023 compliant.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575857" y="3425650"/>
            <a:ext cx="3303900" cy="762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37491" lvl="1" indent="-118745" algn="l">
              <a:lnSpc>
                <a:spcPts val="1540"/>
              </a:lnSpc>
              <a:buFont typeface="Arial"/>
              <a:buChar char="•"/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Modular design lets anycity adopt one or all modules.</a:t>
            </a:r>
          </a:p>
          <a:p>
            <a:pPr marL="237491" lvl="1" indent="-118745" algn="l">
              <a:lnSpc>
                <a:spcPts val="1540"/>
              </a:lnSpc>
              <a:buFont typeface="Arial"/>
              <a:buChar char="•"/>
            </a:pPr>
            <a:r>
              <a:rPr lang="en-US" sz="11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Proven demand from 100+ Smart City Mission projects.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63500" y="-25396"/>
            <a:ext cx="10819000" cy="7585396"/>
          </a:xfrm>
          <a:custGeom>
            <a:avLst/>
            <a:gdLst/>
            <a:ahLst/>
            <a:cxnLst/>
            <a:rect l="l" t="t" r="r" b="b"/>
            <a:pathLst>
              <a:path w="10819000" h="7585396">
                <a:moveTo>
                  <a:pt x="0" y="0"/>
                </a:moveTo>
                <a:lnTo>
                  <a:pt x="10819000" y="0"/>
                </a:lnTo>
                <a:lnTo>
                  <a:pt x="10819000" y="7585396"/>
                </a:lnTo>
                <a:lnTo>
                  <a:pt x="0" y="7585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60397" y="290970"/>
            <a:ext cx="437740" cy="257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00"/>
              </a:lnSpc>
            </a:pPr>
            <a:r>
              <a:rPr lang="en-US" sz="8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GLITCH GODS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0397" y="1535773"/>
            <a:ext cx="2724274" cy="511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74"/>
              </a:lnSpc>
            </a:pPr>
            <a:r>
              <a:rPr lang="en-US" sz="999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Citizens experience faster, safer daily travel.</a:t>
            </a:r>
          </a:p>
          <a:p>
            <a:pPr algn="l">
              <a:lnSpc>
                <a:spcPts val="1374"/>
              </a:lnSpc>
            </a:pPr>
            <a:r>
              <a:rPr lang="en-US" sz="999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Reduced fuel consumption and carbon emissions city-wide.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60397" y="4829994"/>
            <a:ext cx="2810599" cy="3172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lang="en-US" sz="8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Cleaner cities with 30% reduction in unnecessary waste trips. Lower city energy bills through predictive grid management.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60397" y="4347391"/>
            <a:ext cx="3052477" cy="3172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lang="en-US" sz="8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Smart waste sensors prevent overflow; AI optimises pickup routes. Energy grid analytics cut wastage and detect distribution faults.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60397" y="1062695"/>
            <a:ext cx="3185027" cy="3172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lang="en-US" sz="8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AI-driven traffic management cuts average commute time by 25-30%. Real-time geo-alerts prevent accidents in high-risk intersections.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727002" y="4347391"/>
            <a:ext cx="2735885" cy="3172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lang="en-US" sz="8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Live dashboards give authorities real-time city intelligence. Historical analytics support evidence-based urban planning.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727002" y="4829994"/>
            <a:ext cx="2796092" cy="3172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lang="en-US" sz="8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Faster, smarter policy decisions backed by verifiable data. Scalable platform grows with the city's population and needs.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727002" y="1545298"/>
            <a:ext cx="2845318" cy="3172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lang="en-US" sz="8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Response times reduced from minutes to seconds.</a:t>
            </a:r>
          </a:p>
          <a:p>
            <a:pPr algn="l">
              <a:lnSpc>
                <a:spcPts val="1100"/>
              </a:lnSpc>
            </a:pPr>
            <a:r>
              <a:rPr lang="en-US" sz="8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Better coordination between police, fire, and medical services.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727002" y="1062695"/>
            <a:ext cx="2908849" cy="3172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lang="en-US" sz="80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Sub-10ms SOS routing to nearest emergency unit via 5G edge. Auto-incident logging eliminates manual report delays.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879757" y="184337"/>
            <a:ext cx="458467" cy="2815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9"/>
              </a:lnSpc>
            </a:pPr>
            <a:r>
              <a:rPr lang="en-US" sz="699" b="1">
                <a:solidFill>
                  <a:srgbClr val="00BCD4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NEXACITY</a:t>
            </a:r>
          </a:p>
          <a:p>
            <a:pPr algn="ctr">
              <a:lnSpc>
                <a:spcPts val="839"/>
              </a:lnSpc>
            </a:pPr>
            <a:r>
              <a:rPr lang="en-US" sz="600" b="1">
                <a:solidFill>
                  <a:srgbClr val="00BCD4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5G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396603" y="56540"/>
            <a:ext cx="1023509" cy="4402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1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PRABUDDHA</a:t>
            </a:r>
            <a:r>
              <a:rPr lang="en-US" sz="11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</a:p>
          <a:p>
            <a:pPr algn="l">
              <a:lnSpc>
                <a:spcPts val="1260"/>
              </a:lnSpc>
            </a:pPr>
            <a:r>
              <a:rPr lang="en-US" sz="9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TECHATHON</a:t>
            </a:r>
            <a:r>
              <a:rPr lang="en-US" sz="9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  <a:r>
              <a:rPr lang="en-US" sz="9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2026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399852" y="7293092"/>
            <a:ext cx="64818" cy="225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7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593402" y="20612"/>
            <a:ext cx="3575304" cy="5887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IMPACT AND BENEFITS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655116" y="633003"/>
            <a:ext cx="36014" cy="2580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 b="1">
                <a:solidFill>
                  <a:srgbClr val="F57C0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82603" y="633003"/>
            <a:ext cx="1598009" cy="4568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1. Urban Mobility &amp; Safety</a:t>
            </a:r>
          </a:p>
          <a:p>
            <a:pPr algn="l">
              <a:lnSpc>
                <a:spcPts val="1189"/>
              </a:lnSpc>
            </a:pPr>
            <a:r>
              <a:rPr lang="en-US" sz="85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Impact: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82603" y="3917709"/>
            <a:ext cx="1922116" cy="4568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 b="1">
                <a:solidFill>
                  <a:srgbClr val="00897B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3. Environmental Sustainability</a:t>
            </a:r>
          </a:p>
          <a:p>
            <a:pPr algn="l">
              <a:lnSpc>
                <a:spcPts val="1189"/>
              </a:lnSpc>
            </a:pPr>
            <a:r>
              <a:rPr lang="en-US" sz="85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Impact: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549198" y="3917709"/>
            <a:ext cx="1655778" cy="4568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 b="1">
                <a:solidFill>
                  <a:srgbClr val="7B1FA2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4. Data-Driven Governance</a:t>
            </a:r>
          </a:p>
          <a:p>
            <a:pPr algn="l">
              <a:lnSpc>
                <a:spcPts val="1189"/>
              </a:lnSpc>
            </a:pPr>
            <a:r>
              <a:rPr lang="en-US" sz="85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Impact: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5549198" y="633003"/>
            <a:ext cx="2145440" cy="2580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 b="1">
                <a:solidFill>
                  <a:srgbClr val="F57C0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2.EmergencyResponse</a:t>
            </a:r>
            <a:r>
              <a:rPr lang="en-US" sz="10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  <a:r>
              <a:rPr lang="en-US" sz="1000" b="1">
                <a:solidFill>
                  <a:srgbClr val="F57C0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Efficiency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82603" y="1364351"/>
            <a:ext cx="409823" cy="2045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Benefit: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82603" y="4649048"/>
            <a:ext cx="409823" cy="2045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Benefit: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549198" y="881748"/>
            <a:ext cx="391544" cy="2045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Impact: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5549198" y="1364351"/>
            <a:ext cx="409823" cy="2045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Benefit: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549198" y="4649048"/>
            <a:ext cx="409823" cy="2045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Benefit: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92103" y="895350"/>
            <a:ext cx="2159003" cy="336547"/>
          </a:xfrm>
          <a:custGeom>
            <a:avLst/>
            <a:gdLst/>
            <a:ahLst/>
            <a:cxnLst/>
            <a:rect l="l" t="t" r="r" b="b"/>
            <a:pathLst>
              <a:path w="2159003" h="336547">
                <a:moveTo>
                  <a:pt x="0" y="0"/>
                </a:moveTo>
                <a:lnTo>
                  <a:pt x="2159003" y="0"/>
                </a:lnTo>
                <a:lnTo>
                  <a:pt x="2159003" y="336547"/>
                </a:lnTo>
                <a:lnTo>
                  <a:pt x="0" y="33654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368303" y="1638300"/>
            <a:ext cx="101603" cy="101603"/>
          </a:xfrm>
          <a:custGeom>
            <a:avLst/>
            <a:gdLst/>
            <a:ahLst/>
            <a:cxnLst/>
            <a:rect l="l" t="t" r="r" b="b"/>
            <a:pathLst>
              <a:path w="101603" h="101603">
                <a:moveTo>
                  <a:pt x="0" y="0"/>
                </a:moveTo>
                <a:lnTo>
                  <a:pt x="101603" y="0"/>
                </a:lnTo>
                <a:lnTo>
                  <a:pt x="101603" y="101603"/>
                </a:lnTo>
                <a:lnTo>
                  <a:pt x="0" y="10160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368303" y="2209800"/>
            <a:ext cx="101603" cy="101603"/>
          </a:xfrm>
          <a:custGeom>
            <a:avLst/>
            <a:gdLst/>
            <a:ahLst/>
            <a:cxnLst/>
            <a:rect l="l" t="t" r="r" b="b"/>
            <a:pathLst>
              <a:path w="101603" h="101603">
                <a:moveTo>
                  <a:pt x="0" y="0"/>
                </a:moveTo>
                <a:lnTo>
                  <a:pt x="101603" y="0"/>
                </a:lnTo>
                <a:lnTo>
                  <a:pt x="101603" y="101603"/>
                </a:lnTo>
                <a:lnTo>
                  <a:pt x="0" y="10160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292103" y="2914650"/>
            <a:ext cx="2286000" cy="298447"/>
          </a:xfrm>
          <a:custGeom>
            <a:avLst/>
            <a:gdLst/>
            <a:ahLst/>
            <a:cxnLst/>
            <a:rect l="l" t="t" r="r" b="b"/>
            <a:pathLst>
              <a:path w="2286000" h="298447">
                <a:moveTo>
                  <a:pt x="0" y="0"/>
                </a:moveTo>
                <a:lnTo>
                  <a:pt x="2286000" y="0"/>
                </a:lnTo>
                <a:lnTo>
                  <a:pt x="2286000" y="298447"/>
                </a:lnTo>
                <a:lnTo>
                  <a:pt x="0" y="29844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381000" y="32766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0" y="0"/>
                </a:moveTo>
                <a:lnTo>
                  <a:pt x="76200" y="0"/>
                </a:lnTo>
                <a:lnTo>
                  <a:pt x="762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381000" y="3479797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0" y="0"/>
                </a:moveTo>
                <a:lnTo>
                  <a:pt x="76200" y="0"/>
                </a:lnTo>
                <a:lnTo>
                  <a:pt x="762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381000" y="3683003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0" y="0"/>
                </a:moveTo>
                <a:lnTo>
                  <a:pt x="76200" y="0"/>
                </a:lnTo>
                <a:lnTo>
                  <a:pt x="762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381000" y="38862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0" y="0"/>
                </a:moveTo>
                <a:lnTo>
                  <a:pt x="76200" y="0"/>
                </a:lnTo>
                <a:lnTo>
                  <a:pt x="762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381000" y="4089397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0" y="0"/>
                </a:moveTo>
                <a:lnTo>
                  <a:pt x="76200" y="0"/>
                </a:lnTo>
                <a:lnTo>
                  <a:pt x="762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0" y="7229799"/>
            <a:ext cx="10692003" cy="330203"/>
          </a:xfrm>
          <a:custGeom>
            <a:avLst/>
            <a:gdLst/>
            <a:ahLst/>
            <a:cxnLst/>
            <a:rect l="l" t="t" r="r" b="b"/>
            <a:pathLst>
              <a:path w="10692003" h="330203">
                <a:moveTo>
                  <a:pt x="0" y="0"/>
                </a:moveTo>
                <a:lnTo>
                  <a:pt x="10692003" y="0"/>
                </a:lnTo>
                <a:lnTo>
                  <a:pt x="10692003" y="330203"/>
                </a:lnTo>
                <a:lnTo>
                  <a:pt x="0" y="33020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282578" y="38100"/>
            <a:ext cx="10122408" cy="7031679"/>
          </a:xfrm>
          <a:custGeom>
            <a:avLst/>
            <a:gdLst/>
            <a:ahLst/>
            <a:cxnLst/>
            <a:rect l="l" t="t" r="r" b="b"/>
            <a:pathLst>
              <a:path w="10122408" h="7031679">
                <a:moveTo>
                  <a:pt x="0" y="0"/>
                </a:moveTo>
                <a:lnTo>
                  <a:pt x="10122408" y="0"/>
                </a:lnTo>
                <a:lnTo>
                  <a:pt x="10122408" y="7031679"/>
                </a:lnTo>
                <a:lnTo>
                  <a:pt x="0" y="703167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610462" y="196999"/>
            <a:ext cx="437740" cy="381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00"/>
              </a:lnSpc>
            </a:pPr>
            <a:r>
              <a:rPr lang="en-US" sz="8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GLITCH GODS</a:t>
            </a:r>
          </a:p>
          <a:p>
            <a:pPr algn="ctr">
              <a:lnSpc>
                <a:spcPts val="1000"/>
              </a:lnSpc>
            </a:pPr>
            <a:endParaRPr lang="en-US" sz="800" b="1">
              <a:solidFill>
                <a:srgbClr val="0D1B2A"/>
              </a:solidFill>
              <a:latin typeface="Helvetica World Bold"/>
              <a:ea typeface="Helvetica World Bold"/>
              <a:cs typeface="Helvetica World Bold"/>
              <a:sym typeface="Helvetica World Bold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8879757" y="184337"/>
            <a:ext cx="458467" cy="2815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9"/>
              </a:lnSpc>
            </a:pPr>
            <a:r>
              <a:rPr lang="en-US" sz="699" b="1">
                <a:solidFill>
                  <a:srgbClr val="00BCD4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NEXACITY</a:t>
            </a:r>
          </a:p>
          <a:p>
            <a:pPr algn="ctr">
              <a:lnSpc>
                <a:spcPts val="839"/>
              </a:lnSpc>
            </a:pPr>
            <a:r>
              <a:rPr lang="en-US" sz="600" b="1">
                <a:solidFill>
                  <a:srgbClr val="00BCD4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5G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136073" y="767744"/>
            <a:ext cx="1568006" cy="2809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100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Key Technology Pillars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396603" y="56540"/>
            <a:ext cx="1023509" cy="4402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1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PRABUDDHA</a:t>
            </a:r>
            <a:r>
              <a:rPr lang="en-US" sz="11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</a:t>
            </a:r>
          </a:p>
          <a:p>
            <a:pPr algn="l">
              <a:lnSpc>
                <a:spcPts val="1260"/>
              </a:lnSpc>
            </a:pPr>
            <a:r>
              <a:rPr lang="en-US" sz="9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TECHATHON2026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20703" y="990390"/>
            <a:ext cx="1069096" cy="225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IEEE Xplore (2023):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10504" y="1194797"/>
            <a:ext cx="30613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20703" y="2133390"/>
            <a:ext cx="1729788" cy="225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>
                <a:solidFill>
                  <a:srgbClr val="1565C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NITI Aayog Smart Cities (2023):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29332" y="2337797"/>
            <a:ext cx="30613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20703" y="1561890"/>
            <a:ext cx="1749142" cy="225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>
                <a:solidFill>
                  <a:srgbClr val="00897B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Cisco Smart City Report (2022):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300744" y="1766297"/>
            <a:ext cx="30613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20703" y="2946197"/>
            <a:ext cx="2103511" cy="4668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lang="en-US" sz="900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ITU Smart City KPIs Report, 2022 MoHUA Smart Cities Mission Reports</a:t>
            </a:r>
            <a:r>
              <a:rPr lang="en-US" sz="900">
                <a:solidFill>
                  <a:srgbClr val="1E88E5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520703" y="3390690"/>
            <a:ext cx="1883512" cy="225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MQTT Protocol Specification v5.0</a:t>
            </a:r>
            <a:r>
              <a:rPr lang="en-US" sz="900">
                <a:solidFill>
                  <a:srgbClr val="1E88E5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20703" y="3593897"/>
            <a:ext cx="1196702" cy="225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5G MEC Architecture</a:t>
            </a:r>
            <a:r>
              <a:rPr lang="en-US" sz="900">
                <a:solidFill>
                  <a:srgbClr val="1E88E5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20703" y="3758994"/>
            <a:ext cx="1598343" cy="4668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lang="en-US" sz="900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TensorFlow Lite for Edge AI</a:t>
            </a:r>
            <a:r>
              <a:rPr lang="en-US" sz="900">
                <a:solidFill>
                  <a:srgbClr val="1E88E5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  <a:r>
              <a:rPr lang="en-US" sz="900" b="1">
                <a:solidFill>
                  <a:srgbClr val="1B3A5C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InfluxDB Time-Series for IoT</a:t>
            </a:r>
            <a:r>
              <a:rPr lang="en-US" sz="900">
                <a:solidFill>
                  <a:srgbClr val="1E88E5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399852" y="7293092"/>
            <a:ext cx="64818" cy="225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9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750134" y="26565"/>
            <a:ext cx="5295567" cy="6442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</a:pPr>
            <a:r>
              <a:rPr lang="en-US" sz="2600" b="1">
                <a:solidFill>
                  <a:srgbClr val="0D1B2A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RESEARCH AND REFERENCES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355597" y="692934"/>
            <a:ext cx="967197" cy="2848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RESEARCH :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355597" y="2712234"/>
            <a:ext cx="1157307" cy="2848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 b="1">
                <a:solidFill>
                  <a:srgbClr val="1E88E5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REFERENCES :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520703" y="2337797"/>
            <a:ext cx="2444201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India'sSmart CitiesMission: outcomes, tech stack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20703" y="2490197"/>
            <a:ext cx="2417445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adoption, and lessons from 100 city deployments.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20703" y="1766297"/>
            <a:ext cx="2643721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Edge computingdeploymentstrategies for low-latency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20703" y="1918697"/>
            <a:ext cx="2263950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civic IoT applications — a practical framework.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520703" y="1194797"/>
            <a:ext cx="2728941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Smart City IoTarchitectures using 5G MEC for real-time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520703" y="1347197"/>
            <a:ext cx="2074669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11111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urban traffic and emergency management.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2612974" y="3226794"/>
            <a:ext cx="942318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E88E5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– smartcities.gov.in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2397290" y="3430000"/>
            <a:ext cx="495710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E88E5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–mqtt.org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723949" y="3633197"/>
            <a:ext cx="948700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E88E5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–</a:t>
            </a:r>
            <a:r>
              <a:rPr lang="en-US" sz="8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  <a:r>
              <a:rPr lang="en-US" sz="850">
                <a:solidFill>
                  <a:srgbClr val="1E88E5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ETSI</a:t>
            </a:r>
            <a:r>
              <a:rPr lang="en-US" sz="8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  <a:r>
              <a:rPr lang="en-US" sz="850">
                <a:solidFill>
                  <a:srgbClr val="1E88E5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</a:t>
            </a:r>
            <a:r>
              <a:rPr lang="en-US" sz="8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  <a:r>
              <a:rPr lang="en-US" sz="850">
                <a:solidFill>
                  <a:srgbClr val="1E88E5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302</a:t>
            </a:r>
            <a:r>
              <a:rPr lang="en-US" sz="8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  <a:r>
              <a:rPr lang="en-US" sz="850">
                <a:solidFill>
                  <a:srgbClr val="1E88E5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217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2098624" y="3836394"/>
            <a:ext cx="954643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E88E5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–tensorflow.org/lite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2117712" y="4039600"/>
            <a:ext cx="1064866" cy="18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>
                <a:solidFill>
                  <a:srgbClr val="1E88E5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–</a:t>
            </a:r>
            <a:r>
              <a:rPr lang="en-US" sz="8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</a:t>
            </a:r>
            <a:r>
              <a:rPr lang="en-US" sz="850">
                <a:solidFill>
                  <a:srgbClr val="1E88E5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influxdata.com/docs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5752405" y="1592951"/>
            <a:ext cx="697430" cy="2045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AI/ML Engine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5752405" y="1973951"/>
            <a:ext cx="734425" cy="2045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Microservices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5752405" y="2354951"/>
            <a:ext cx="997258" cy="2045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MQTT/WebSockets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752405" y="2735951"/>
            <a:ext cx="1040092" cy="2045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Hybrid Connectivity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752405" y="3116951"/>
            <a:ext cx="1076868" cy="2045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Multi-City Scalability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5752405" y="1211951"/>
            <a:ext cx="1153277" cy="2045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89"/>
              </a:lnSpc>
            </a:pPr>
            <a:r>
              <a:rPr lang="en-US" sz="850" b="1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5G + Edge Computing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6512357" y="1619564"/>
            <a:ext cx="1916773" cy="1765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lang="en-US" sz="7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— LSTM + ARIMA + Isolation Forest models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6548628" y="2000564"/>
            <a:ext cx="2111369" cy="1765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lang="en-US" sz="7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— Independent traffic/waste/emergency modules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6806308" y="2381564"/>
            <a:ext cx="1932794" cy="1765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lang="en-US" sz="7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— Real-time bidirectional IoT communication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6959270" y="1238564"/>
            <a:ext cx="1938338" cy="1765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lang="en-US" sz="7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— Sub-10ms city intelligence via MEC nodes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6848294" y="2762564"/>
            <a:ext cx="2197646" cy="1765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lang="en-US" sz="7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— Seamless 4G/5G failover ensures 99.9% uptime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884356" y="3143564"/>
            <a:ext cx="2195122" cy="1765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lang="en-US" sz="750">
                <a:solidFill>
                  <a:srgbClr val="FFFFFF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— Kubernetes + AWS Lambda auto-scaling design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</TotalTime>
  <Words>1218</Words>
  <Application>Microsoft Office PowerPoint</Application>
  <PresentationFormat>Custom</PresentationFormat>
  <Paragraphs>305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Calibri</vt:lpstr>
      <vt:lpstr>Arial</vt:lpstr>
      <vt:lpstr>Helvetica World Bold</vt:lpstr>
      <vt:lpstr>Ubuntu Mono Medium</vt:lpstr>
      <vt:lpstr>Helvetica World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SmartScape_NexaCity5G_CodeSmokers_PRABUDDHA2026.pdf</dc:title>
  <cp:lastModifiedBy>Mainak Paul</cp:lastModifiedBy>
  <cp:revision>2</cp:revision>
  <dcterms:created xsi:type="dcterms:W3CDTF">2006-08-16T00:00:00Z</dcterms:created>
  <dcterms:modified xsi:type="dcterms:W3CDTF">2026-04-15T19:19:59Z</dcterms:modified>
  <dc:identifier>DAHG5QEtxVw</dc:identifier>
</cp:coreProperties>
</file>