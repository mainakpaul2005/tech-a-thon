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0693400" cy="7556500"/>
  <p:notesSz cx="6858000" cy="9144000"/>
  <p:embeddedFontLst>
    <p:embeddedFont>
      <p:font typeface="Helvetica World Bold" charset="1" panose="020B0800040000020004"/>
      <p:regular r:id="rId14"/>
    </p:embeddedFont>
    <p:embeddedFont>
      <p:font typeface="Helvetica World" charset="1" panose="020B050004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svg" Type="http://schemas.openxmlformats.org/officeDocument/2006/relationships/image"/><Relationship Id="rId5" Target="../media/image4.svg" Type="http://schemas.openxmlformats.org/officeDocument/2006/relationships/image"/><Relationship Id="rId6" Target="../media/image5.svg" Type="http://schemas.openxmlformats.org/officeDocument/2006/relationships/image"/><Relationship Id="rId7" Target="../media/image6.sv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svg" Type="http://schemas.openxmlformats.org/officeDocument/2006/relationships/image"/><Relationship Id="rId12" Target="../media/image33.sv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8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8.png" Type="http://schemas.openxmlformats.org/officeDocument/2006/relationships/image"/><Relationship Id="rId5" Target="../media/image2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12" Target="../media/image58.svg" Type="http://schemas.openxmlformats.org/officeDocument/2006/relationships/image"/><Relationship Id="rId13" Target="../media/image59.svg" Type="http://schemas.openxmlformats.org/officeDocument/2006/relationships/image"/><Relationship Id="rId14" Target="../media/image60.svg" Type="http://schemas.openxmlformats.org/officeDocument/2006/relationships/image"/><Relationship Id="rId15" Target="../media/image61.svg" Type="http://schemas.openxmlformats.org/officeDocument/2006/relationships/image"/><Relationship Id="rId16" Target="../media/image8.png" Type="http://schemas.openxmlformats.org/officeDocument/2006/relationships/image"/><Relationship Id="rId17" Target="../media/image22.svg" Type="http://schemas.openxmlformats.org/officeDocument/2006/relationships/image"/><Relationship Id="rId18" Target="../media/image62.png" Type="http://schemas.openxmlformats.org/officeDocument/2006/relationships/image"/><Relationship Id="rId19" Target="../media/image63.svg" Type="http://schemas.openxmlformats.org/officeDocument/2006/relationships/image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2603" y="1346197"/>
            <a:ext cx="101603" cy="101603"/>
          </a:xfrm>
          <a:custGeom>
            <a:avLst/>
            <a:gdLst/>
            <a:ahLst/>
            <a:cxnLst/>
            <a:rect r="r" b="b" t="t" l="l"/>
            <a:pathLst>
              <a:path h="101603" w="101603">
                <a:moveTo>
                  <a:pt x="0" y="0"/>
                </a:moveTo>
                <a:lnTo>
                  <a:pt x="101603" y="0"/>
                </a:lnTo>
                <a:lnTo>
                  <a:pt x="1016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2603" y="1778003"/>
            <a:ext cx="101603" cy="101603"/>
          </a:xfrm>
          <a:custGeom>
            <a:avLst/>
            <a:gdLst/>
            <a:ahLst/>
            <a:cxnLst/>
            <a:rect r="r" b="b" t="t" l="l"/>
            <a:pathLst>
              <a:path h="101603" w="101603">
                <a:moveTo>
                  <a:pt x="0" y="0"/>
                </a:moveTo>
                <a:lnTo>
                  <a:pt x="101603" y="0"/>
                </a:lnTo>
                <a:lnTo>
                  <a:pt x="1016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2603" y="2209800"/>
            <a:ext cx="101603" cy="101603"/>
          </a:xfrm>
          <a:custGeom>
            <a:avLst/>
            <a:gdLst/>
            <a:ahLst/>
            <a:cxnLst/>
            <a:rect r="r" b="b" t="t" l="l"/>
            <a:pathLst>
              <a:path h="101603" w="101603">
                <a:moveTo>
                  <a:pt x="0" y="0"/>
                </a:moveTo>
                <a:lnTo>
                  <a:pt x="101603" y="0"/>
                </a:lnTo>
                <a:lnTo>
                  <a:pt x="1016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2603" y="2641597"/>
            <a:ext cx="101603" cy="101603"/>
          </a:xfrm>
          <a:custGeom>
            <a:avLst/>
            <a:gdLst/>
            <a:ahLst/>
            <a:cxnLst/>
            <a:rect r="r" b="b" t="t" l="l"/>
            <a:pathLst>
              <a:path h="101603" w="101603">
                <a:moveTo>
                  <a:pt x="0" y="0"/>
                </a:moveTo>
                <a:lnTo>
                  <a:pt x="101603" y="0"/>
                </a:lnTo>
                <a:lnTo>
                  <a:pt x="1016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2603" y="3073403"/>
            <a:ext cx="101603" cy="101603"/>
          </a:xfrm>
          <a:custGeom>
            <a:avLst/>
            <a:gdLst/>
            <a:ahLst/>
            <a:cxnLst/>
            <a:rect r="r" b="b" t="t" l="l"/>
            <a:pathLst>
              <a:path h="101603" w="101603">
                <a:moveTo>
                  <a:pt x="0" y="0"/>
                </a:moveTo>
                <a:lnTo>
                  <a:pt x="101603" y="0"/>
                </a:lnTo>
                <a:lnTo>
                  <a:pt x="1016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2603" y="3505200"/>
            <a:ext cx="101603" cy="101603"/>
          </a:xfrm>
          <a:custGeom>
            <a:avLst/>
            <a:gdLst/>
            <a:ahLst/>
            <a:cxnLst/>
            <a:rect r="r" b="b" t="t" l="l"/>
            <a:pathLst>
              <a:path h="101603" w="101603">
                <a:moveTo>
                  <a:pt x="0" y="0"/>
                </a:moveTo>
                <a:lnTo>
                  <a:pt x="101603" y="0"/>
                </a:lnTo>
                <a:lnTo>
                  <a:pt x="1016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7229799"/>
            <a:ext cx="10692003" cy="330203"/>
          </a:xfrm>
          <a:custGeom>
            <a:avLst/>
            <a:gdLst/>
            <a:ahLst/>
            <a:cxnLst/>
            <a:rect r="r" b="b" t="t" l="l"/>
            <a:pathLst>
              <a:path h="330203" w="10692003">
                <a:moveTo>
                  <a:pt x="0" y="0"/>
                </a:moveTo>
                <a:lnTo>
                  <a:pt x="10692003" y="0"/>
                </a:lnTo>
                <a:lnTo>
                  <a:pt x="10692003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55922" y="1813703"/>
            <a:ext cx="3684622" cy="4234996"/>
          </a:xfrm>
          <a:custGeom>
            <a:avLst/>
            <a:gdLst/>
            <a:ahLst/>
            <a:cxnLst/>
            <a:rect r="r" b="b" t="t" l="l"/>
            <a:pathLst>
              <a:path h="4234996" w="3684622">
                <a:moveTo>
                  <a:pt x="0" y="0"/>
                </a:moveTo>
                <a:lnTo>
                  <a:pt x="3684623" y="0"/>
                </a:lnTo>
                <a:lnTo>
                  <a:pt x="3684623" y="4234996"/>
                </a:lnTo>
                <a:lnTo>
                  <a:pt x="0" y="42349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3503" y="-63503"/>
            <a:ext cx="10819000" cy="990600"/>
          </a:xfrm>
          <a:custGeom>
            <a:avLst/>
            <a:gdLst/>
            <a:ahLst/>
            <a:cxnLst/>
            <a:rect r="r" b="b" t="t" l="l"/>
            <a:pathLst>
              <a:path h="990600" w="10819000">
                <a:moveTo>
                  <a:pt x="0" y="0"/>
                </a:moveTo>
                <a:lnTo>
                  <a:pt x="10819000" y="0"/>
                </a:lnTo>
                <a:lnTo>
                  <a:pt x="108190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5597" y="-2810"/>
            <a:ext cx="6023610" cy="90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PRABUDDHA TECHATHON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79757" y="184337"/>
            <a:ext cx="458467" cy="28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</a:pPr>
            <a:r>
              <a:rPr lang="en-US" b="true" sz="699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NEXACITY</a:t>
            </a:r>
          </a:p>
          <a:p>
            <a:pPr algn="ctr">
              <a:lnSpc>
                <a:spcPts val="839"/>
              </a:lnSpc>
            </a:pPr>
            <a:r>
              <a:rPr lang="en-US" b="true" sz="600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96603" y="56540"/>
            <a:ext cx="1023509" cy="44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PRABUDDHA</a:t>
            </a:r>
            <a:r>
              <a:rPr lang="en-US" b="true" sz="11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TECHATHON</a:t>
            </a:r>
            <a:r>
              <a:rPr lang="en-US" b="true" sz="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9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99852" y="7293092"/>
            <a:ext cx="64818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497" y="1078497"/>
            <a:ext cx="5568210" cy="248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b="true" sz="13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 ID –</a:t>
            </a:r>
            <a:r>
              <a:rPr lang="en-US" b="true" sz="13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TH3-PRBDH-2026-001</a:t>
            </a:r>
          </a:p>
          <a:p>
            <a:pPr algn="l">
              <a:lnSpc>
                <a:spcPts val="3250"/>
              </a:lnSpc>
            </a:pPr>
            <a:r>
              <a:rPr lang="en-US" b="true" sz="13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 Title –</a:t>
            </a:r>
            <a:r>
              <a:rPr lang="en-US" b="true" sz="13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SmartScape 5G: Powering Intelligent Cities </a:t>
            </a:r>
            <a:r>
              <a:rPr lang="en-US" b="true" sz="13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Theme –</a:t>
            </a:r>
            <a:r>
              <a:rPr lang="en-US" b="true" sz="13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Smart Governance &amp; Urban Technology</a:t>
            </a:r>
          </a:p>
          <a:p>
            <a:pPr algn="l">
              <a:lnSpc>
                <a:spcPts val="3250"/>
              </a:lnSpc>
            </a:pPr>
            <a:r>
              <a:rPr lang="en-US" b="true" sz="13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PS Category –</a:t>
            </a:r>
            <a:r>
              <a:rPr lang="en-US" b="true" sz="13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Software + IoT</a:t>
            </a:r>
          </a:p>
          <a:p>
            <a:pPr algn="l">
              <a:lnSpc>
                <a:spcPts val="3250"/>
              </a:lnSpc>
            </a:pPr>
            <a:r>
              <a:rPr lang="en-US" b="true" sz="13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ID –</a:t>
            </a:r>
            <a:r>
              <a:rPr lang="en-US" b="true" sz="13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[YOUR TEAM ID]</a:t>
            </a:r>
          </a:p>
          <a:p>
            <a:pPr algn="l">
              <a:lnSpc>
                <a:spcPts val="3250"/>
              </a:lnSpc>
            </a:pPr>
            <a:r>
              <a:rPr lang="en-US" b="true" sz="13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Name – </a:t>
            </a:r>
            <a:r>
              <a:rPr lang="en-US" b="true" sz="13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Glitch Gods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5761" y="1375553"/>
            <a:ext cx="2526954" cy="1504950"/>
          </a:xfrm>
          <a:custGeom>
            <a:avLst/>
            <a:gdLst/>
            <a:ahLst/>
            <a:cxnLst/>
            <a:rect r="r" b="b" t="t" l="l"/>
            <a:pathLst>
              <a:path h="1504950" w="2526954">
                <a:moveTo>
                  <a:pt x="0" y="0"/>
                </a:moveTo>
                <a:lnTo>
                  <a:pt x="2526953" y="0"/>
                </a:lnTo>
                <a:lnTo>
                  <a:pt x="2526953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2094" y="3445202"/>
            <a:ext cx="2526954" cy="1504950"/>
          </a:xfrm>
          <a:custGeom>
            <a:avLst/>
            <a:gdLst/>
            <a:ahLst/>
            <a:cxnLst/>
            <a:rect r="r" b="b" t="t" l="l"/>
            <a:pathLst>
              <a:path h="1504950" w="2526954">
                <a:moveTo>
                  <a:pt x="0" y="0"/>
                </a:moveTo>
                <a:lnTo>
                  <a:pt x="2526954" y="0"/>
                </a:lnTo>
                <a:lnTo>
                  <a:pt x="2526954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40579" y="1375553"/>
            <a:ext cx="2526954" cy="1504950"/>
          </a:xfrm>
          <a:custGeom>
            <a:avLst/>
            <a:gdLst/>
            <a:ahLst/>
            <a:cxnLst/>
            <a:rect r="r" b="b" t="t" l="l"/>
            <a:pathLst>
              <a:path h="1504950" w="2526954">
                <a:moveTo>
                  <a:pt x="0" y="0"/>
                </a:moveTo>
                <a:lnTo>
                  <a:pt x="2526954" y="0"/>
                </a:lnTo>
                <a:lnTo>
                  <a:pt x="2526954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15901" y="3445202"/>
            <a:ext cx="2526954" cy="1504950"/>
          </a:xfrm>
          <a:custGeom>
            <a:avLst/>
            <a:gdLst/>
            <a:ahLst/>
            <a:cxnLst/>
            <a:rect r="r" b="b" t="t" l="l"/>
            <a:pathLst>
              <a:path h="1504950" w="2526954">
                <a:moveTo>
                  <a:pt x="0" y="0"/>
                </a:moveTo>
                <a:lnTo>
                  <a:pt x="2526954" y="0"/>
                </a:lnTo>
                <a:lnTo>
                  <a:pt x="2526954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229799"/>
            <a:ext cx="10692003" cy="330203"/>
          </a:xfrm>
          <a:custGeom>
            <a:avLst/>
            <a:gdLst/>
            <a:ahLst/>
            <a:cxnLst/>
            <a:rect r="r" b="b" t="t" l="l"/>
            <a:pathLst>
              <a:path h="330203" w="10692003">
                <a:moveTo>
                  <a:pt x="0" y="0"/>
                </a:moveTo>
                <a:lnTo>
                  <a:pt x="10692003" y="0"/>
                </a:lnTo>
                <a:lnTo>
                  <a:pt x="10692003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8586" y="-1424"/>
            <a:ext cx="10123675" cy="6893252"/>
          </a:xfrm>
          <a:custGeom>
            <a:avLst/>
            <a:gdLst/>
            <a:ahLst/>
            <a:cxnLst/>
            <a:rect r="r" b="b" t="t" l="l"/>
            <a:pathLst>
              <a:path h="6893252" w="10123675">
                <a:moveTo>
                  <a:pt x="0" y="0"/>
                </a:moveTo>
                <a:lnTo>
                  <a:pt x="10123675" y="0"/>
                </a:lnTo>
                <a:lnTo>
                  <a:pt x="10123675" y="6893252"/>
                </a:lnTo>
                <a:lnTo>
                  <a:pt x="0" y="68932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3058" y="239014"/>
            <a:ext cx="951009" cy="25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800" b="true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GLITCH</a:t>
            </a:r>
          </a:p>
          <a:p>
            <a:pPr algn="ctr">
              <a:lnSpc>
                <a:spcPts val="1000"/>
              </a:lnSpc>
            </a:pPr>
            <a:r>
              <a:rPr lang="en-US" b="true" sz="8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GODS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8936" y="3866698"/>
            <a:ext cx="2043514" cy="64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0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Smart bin sensors,</a:t>
            </a:r>
          </a:p>
          <a:p>
            <a:pPr algn="l">
              <a:lnSpc>
                <a:spcPts val="1787"/>
              </a:lnSpc>
            </a:pPr>
            <a:r>
              <a:rPr lang="en-US" sz="10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IoT fill-level alerts, AI-optimised collection route planning.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2520" y="1822526"/>
            <a:ext cx="2059931" cy="64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0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AI-driven signal control via 5G edge nodes. Real-time rerouting</a:t>
            </a:r>
          </a:p>
          <a:p>
            <a:pPr algn="l">
              <a:lnSpc>
                <a:spcPts val="1787"/>
              </a:lnSpc>
            </a:pPr>
            <a:r>
              <a:rPr lang="en-US" sz="10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&amp; congestion alerts.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02610" y="1757048"/>
            <a:ext cx="2066698" cy="64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0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Panic SOS routing, auto-dispatch to nearest unit, incident command dashboard.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48554" y="3866698"/>
            <a:ext cx="1931535" cy="64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0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Smart meter analytics, demand forecasting, renewable integration, grid anomaly alerts.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09042" y="145432"/>
            <a:ext cx="458467" cy="28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</a:pPr>
            <a:r>
              <a:rPr lang="en-US" b="true" sz="699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NEXACITY</a:t>
            </a:r>
          </a:p>
          <a:p>
            <a:pPr algn="ctr">
              <a:lnSpc>
                <a:spcPts val="839"/>
              </a:lnSpc>
            </a:pPr>
            <a:r>
              <a:rPr lang="en-US" b="true" sz="600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1161" y="56540"/>
            <a:ext cx="1023509" cy="44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PRABUDDHA</a:t>
            </a:r>
            <a:r>
              <a:rPr lang="en-US" b="true" sz="11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TECHATHON2026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59323" y="1834131"/>
            <a:ext cx="4226397" cy="380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4865" indent="-152432" lvl="1">
              <a:lnSpc>
                <a:spcPts val="2510"/>
              </a:lnSpc>
              <a:buFont typeface="Arial"/>
              <a:buChar char="•"/>
            </a:pPr>
            <a:r>
              <a:rPr lang="en-US" b="true" sz="1412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Real-Time Intelligence:</a:t>
            </a:r>
            <a:r>
              <a:rPr lang="en-US" sz="1412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5G + edge computing for sub-10ms city decisions. </a:t>
            </a:r>
          </a:p>
          <a:p>
            <a:pPr algn="l" marL="304865" indent="-152432" lvl="1">
              <a:lnSpc>
                <a:spcPts val="2510"/>
              </a:lnSpc>
              <a:buFont typeface="Arial"/>
              <a:buChar char="•"/>
            </a:pPr>
            <a:r>
              <a:rPr lang="en-US" b="true" sz="1412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Modular Architecture:</a:t>
            </a:r>
            <a:r>
              <a:rPr lang="en-US" sz="1412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Plug-and-play subsystems per city's needs.</a:t>
            </a:r>
          </a:p>
          <a:p>
            <a:pPr algn="l" marL="304865" indent="-152432" lvl="1">
              <a:lnSpc>
                <a:spcPts val="2510"/>
              </a:lnSpc>
              <a:buFont typeface="Arial"/>
              <a:buChar char="•"/>
            </a:pPr>
            <a:r>
              <a:rPr lang="en-US" b="true" sz="1412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Predictive Analytics:</a:t>
            </a:r>
            <a:r>
              <a:rPr lang="en-US" sz="1412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Proactive alerts — not just reactive dashboards. </a:t>
            </a:r>
          </a:p>
          <a:p>
            <a:pPr algn="l" marL="304865" indent="-152432" lvl="1">
              <a:lnSpc>
                <a:spcPts val="2510"/>
              </a:lnSpc>
              <a:buFont typeface="Arial"/>
              <a:buChar char="•"/>
            </a:pPr>
            <a:r>
              <a:rPr lang="en-US" b="true" sz="1412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Scalable Deployment:</a:t>
            </a:r>
            <a:r>
              <a:rPr lang="en-US" sz="1412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Microservices design supports multi-city rollout. </a:t>
            </a:r>
          </a:p>
          <a:p>
            <a:pPr algn="l" marL="304865" indent="-152432" lvl="1">
              <a:lnSpc>
                <a:spcPts val="2510"/>
              </a:lnSpc>
              <a:buFont typeface="Arial"/>
              <a:buChar char="•"/>
            </a:pPr>
            <a:r>
              <a:rPr lang="en-US" b="true" sz="1412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Hybrid Connectivity:</a:t>
            </a:r>
            <a:r>
              <a:rPr lang="en-US" sz="1412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4G/5G fallback ensures 24x7 uptime reliability. </a:t>
            </a:r>
          </a:p>
          <a:p>
            <a:pPr algn="l" marL="304865" indent="-152432" lvl="1">
              <a:lnSpc>
                <a:spcPts val="2510"/>
              </a:lnSpc>
              <a:buFont typeface="Arial"/>
              <a:buChar char="•"/>
            </a:pPr>
            <a:r>
              <a:rPr lang="en-US" b="true" sz="1412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Citizen-First Interface:</a:t>
            </a:r>
            <a:r>
              <a:rPr lang="en-US" sz="1412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Multilingual React Native app with voice support.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99852" y="7293092"/>
            <a:ext cx="64818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64667" y="46415"/>
            <a:ext cx="6081932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2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NexaCity5G – Smart City Platform 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0920" y="1543860"/>
            <a:ext cx="972922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Traffic Intelligence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445" y="3575441"/>
            <a:ext cx="1027871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Waste Management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09193" y="3575441"/>
            <a:ext cx="740369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Energy &amp; Grid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28846" y="1543860"/>
            <a:ext cx="1150420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Emergency Response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59323" y="915286"/>
            <a:ext cx="585026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01.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IoT Onboarding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26304" y="915286"/>
            <a:ext cx="636480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02.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Edge Processing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19061" y="1075963"/>
            <a:ext cx="23412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64300" y="915286"/>
            <a:ext cx="135045" cy="19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73167" y="1075963"/>
            <a:ext cx="23412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38275" y="915286"/>
            <a:ext cx="580234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04.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City Dashboard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57550" y="1075963"/>
            <a:ext cx="556822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AI/ML Analysis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25398" y="1366028"/>
            <a:ext cx="2409749" cy="28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Unique Value Proposition (UVP):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174" y="5716734"/>
            <a:ext cx="5839183" cy="912169"/>
          </a:xfrm>
          <a:custGeom>
            <a:avLst/>
            <a:gdLst/>
            <a:ahLst/>
            <a:cxnLst/>
            <a:rect r="r" b="b" t="t" l="l"/>
            <a:pathLst>
              <a:path h="912169" w="5839183">
                <a:moveTo>
                  <a:pt x="0" y="0"/>
                </a:moveTo>
                <a:lnTo>
                  <a:pt x="5839183" y="0"/>
                </a:lnTo>
                <a:lnTo>
                  <a:pt x="5839183" y="912169"/>
                </a:lnTo>
                <a:lnTo>
                  <a:pt x="0" y="912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2578" y="130178"/>
            <a:ext cx="5114925" cy="552450"/>
          </a:xfrm>
          <a:custGeom>
            <a:avLst/>
            <a:gdLst/>
            <a:ahLst/>
            <a:cxnLst/>
            <a:rect r="r" b="b" t="t" l="l"/>
            <a:pathLst>
              <a:path h="552450" w="5114925">
                <a:moveTo>
                  <a:pt x="0" y="0"/>
                </a:moveTo>
                <a:lnTo>
                  <a:pt x="5114925" y="0"/>
                </a:lnTo>
                <a:lnTo>
                  <a:pt x="5114925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229799"/>
            <a:ext cx="10692003" cy="330203"/>
          </a:xfrm>
          <a:custGeom>
            <a:avLst/>
            <a:gdLst/>
            <a:ahLst/>
            <a:cxnLst/>
            <a:rect r="r" b="b" t="t" l="l"/>
            <a:pathLst>
              <a:path h="330203" w="10692003">
                <a:moveTo>
                  <a:pt x="0" y="0"/>
                </a:moveTo>
                <a:lnTo>
                  <a:pt x="10692003" y="0"/>
                </a:lnTo>
                <a:lnTo>
                  <a:pt x="10692003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09505" y="736597"/>
            <a:ext cx="5066605" cy="609600"/>
          </a:xfrm>
          <a:custGeom>
            <a:avLst/>
            <a:gdLst/>
            <a:ahLst/>
            <a:cxnLst/>
            <a:rect r="r" b="b" t="t" l="l"/>
            <a:pathLst>
              <a:path h="609600" w="5066605">
                <a:moveTo>
                  <a:pt x="0" y="0"/>
                </a:moveTo>
                <a:lnTo>
                  <a:pt x="5066604" y="0"/>
                </a:lnTo>
                <a:lnTo>
                  <a:pt x="506660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09505" y="1397003"/>
            <a:ext cx="5066605" cy="609600"/>
          </a:xfrm>
          <a:custGeom>
            <a:avLst/>
            <a:gdLst/>
            <a:ahLst/>
            <a:cxnLst/>
            <a:rect r="r" b="b" t="t" l="l"/>
            <a:pathLst>
              <a:path h="609600" w="5066605">
                <a:moveTo>
                  <a:pt x="0" y="0"/>
                </a:moveTo>
                <a:lnTo>
                  <a:pt x="5066604" y="0"/>
                </a:lnTo>
                <a:lnTo>
                  <a:pt x="506660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09505" y="2057400"/>
            <a:ext cx="5066605" cy="609600"/>
          </a:xfrm>
          <a:custGeom>
            <a:avLst/>
            <a:gdLst/>
            <a:ahLst/>
            <a:cxnLst/>
            <a:rect r="r" b="b" t="t" l="l"/>
            <a:pathLst>
              <a:path h="609600" w="5066605">
                <a:moveTo>
                  <a:pt x="0" y="0"/>
                </a:moveTo>
                <a:lnTo>
                  <a:pt x="5066604" y="0"/>
                </a:lnTo>
                <a:lnTo>
                  <a:pt x="506660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09505" y="2717797"/>
            <a:ext cx="5066605" cy="609600"/>
          </a:xfrm>
          <a:custGeom>
            <a:avLst/>
            <a:gdLst/>
            <a:ahLst/>
            <a:cxnLst/>
            <a:rect r="r" b="b" t="t" l="l"/>
            <a:pathLst>
              <a:path h="609600" w="5066605">
                <a:moveTo>
                  <a:pt x="0" y="0"/>
                </a:moveTo>
                <a:lnTo>
                  <a:pt x="5066604" y="0"/>
                </a:lnTo>
                <a:lnTo>
                  <a:pt x="506660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09505" y="3378203"/>
            <a:ext cx="5066605" cy="609600"/>
          </a:xfrm>
          <a:custGeom>
            <a:avLst/>
            <a:gdLst/>
            <a:ahLst/>
            <a:cxnLst/>
            <a:rect r="r" b="b" t="t" l="l"/>
            <a:pathLst>
              <a:path h="609600" w="5066605">
                <a:moveTo>
                  <a:pt x="0" y="0"/>
                </a:moveTo>
                <a:lnTo>
                  <a:pt x="5066604" y="0"/>
                </a:lnTo>
                <a:lnTo>
                  <a:pt x="506660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50497" y="101603"/>
            <a:ext cx="507997" cy="507997"/>
          </a:xfrm>
          <a:custGeom>
            <a:avLst/>
            <a:gdLst/>
            <a:ahLst/>
            <a:cxnLst/>
            <a:rect r="r" b="b" t="t" l="l"/>
            <a:pathLst>
              <a:path h="507997" w="507997">
                <a:moveTo>
                  <a:pt x="0" y="0"/>
                </a:moveTo>
                <a:lnTo>
                  <a:pt x="507996" y="0"/>
                </a:lnTo>
                <a:lnTo>
                  <a:pt x="507996" y="507997"/>
                </a:lnTo>
                <a:lnTo>
                  <a:pt x="0" y="5079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74602" y="2147878"/>
            <a:ext cx="967511" cy="19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b="true" sz="8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Analytics Engine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74602" y="827084"/>
            <a:ext cx="1134456" cy="19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b="true" sz="8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IoT Device Onboarding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74602" y="1487481"/>
            <a:ext cx="1146172" cy="19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b="true" sz="8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Edge Processing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74602" y="3468681"/>
            <a:ext cx="1162955" cy="19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b="true" sz="8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Authority &amp; Citizen 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74602" y="2808275"/>
            <a:ext cx="1301306" cy="19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b="true" sz="8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City Command Dashboard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79757" y="184337"/>
            <a:ext cx="458467" cy="28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</a:pPr>
            <a:r>
              <a:rPr lang="en-US" b="true" sz="699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NEXACITY</a:t>
            </a:r>
          </a:p>
          <a:p>
            <a:pPr algn="ctr">
              <a:lnSpc>
                <a:spcPts val="839"/>
              </a:lnSpc>
            </a:pPr>
            <a:r>
              <a:rPr lang="en-US" b="true" sz="600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96603" y="56540"/>
            <a:ext cx="1023509" cy="44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PRABUDDHA</a:t>
            </a:r>
            <a:r>
              <a:rPr lang="en-US" b="true" sz="11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TECHATHON2026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9207" y="5792934"/>
            <a:ext cx="867985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Product Status: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1124" y="4814297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99852" y="7293092"/>
            <a:ext cx="64818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4925" y="172781"/>
            <a:ext cx="682781" cy="384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1"/>
              </a:lnSpc>
            </a:pPr>
            <a:r>
              <a:rPr lang="en-US" sz="800" b="true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GLITCH</a:t>
            </a:r>
          </a:p>
          <a:p>
            <a:pPr algn="ctr">
              <a:lnSpc>
                <a:spcPts val="1551"/>
              </a:lnSpc>
            </a:pPr>
            <a:r>
              <a:rPr lang="en-US" b="true" sz="8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GODS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60451" y="53137"/>
            <a:ext cx="277109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2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22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Technical Approach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4925" y="862470"/>
            <a:ext cx="3890787" cy="56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Cross-platformmobileapp with real-time city dashboards, alerts,SOS,andmultilingualvoice interface.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7856" y="1613897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9207" y="2085118"/>
            <a:ext cx="935669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1565C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/ ML Engine: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9926" y="3175997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6215" y="4241198"/>
            <a:ext cx="1000696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C6282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Database Stack: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1885" y="3544300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3834" y="3696700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9207" y="4935684"/>
            <a:ext cx="1262882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Cloud (AWS + CDN):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35904" y="4064994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39207" y="2751684"/>
            <a:ext cx="1288409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7B1FA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MQTT / WebSockets: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6215" y="807015"/>
            <a:ext cx="1504217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React</a:t>
            </a:r>
            <a:r>
              <a:rPr lang="en-US" b="true" sz="10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0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Native</a:t>
            </a:r>
            <a:r>
              <a:rPr lang="en-US" b="true" sz="10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0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(Frontend):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1605" y="940794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7944" y="2655294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26215" y="3499790"/>
            <a:ext cx="1698403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57C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5G Edge Computing (MEC):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37802" y="3023597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7829" y="1093194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39207" y="1422540"/>
            <a:ext cx="1803197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089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Node.js + FastAPI (Backend):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63570" y="1461497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24925" y="1684115"/>
            <a:ext cx="3893378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MicroservicesAPIshandlingIoT data ingestion, city modulecoordination, and RESTful communication.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9207" y="2333625"/>
            <a:ext cx="4153001" cy="37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3"/>
              </a:lnSpc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Traffic prediction (LSTM), anomaly detection (Isolation Forest), demand forecasting (ARIMA + XGBoost).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39207" y="3782698"/>
            <a:ext cx="3893378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On-premise edgenodeshandle latency-critical decisions beforedata reaches cloud — sub-10ms response.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39207" y="5204398"/>
            <a:ext cx="4158059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S3 formodelstorage, Lambda for serverless processing, CloudFront CDN for dashboard asset delivery.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39207" y="4487374"/>
            <a:ext cx="4158059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PostgreSQL(structured), InfluxDB (time-series IoT data), MongoDB(logs),Firebase (auth &amp; push notifications).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24925" y="3041955"/>
            <a:ext cx="4158059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Real-time bidirectional communication between IoT edge beforedata reaches cloud — sub-10ms response.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39207" y="5916759"/>
            <a:ext cx="3921587" cy="57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Coremodules —IoT simulator, AI engine, React Native app, and admin dashboard — built. Integration into unified platform in progress.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896823" y="1720348"/>
            <a:ext cx="378990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Raw Data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876182" y="3701548"/>
            <a:ext cx="421091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Push Alert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839492" y="3041152"/>
            <a:ext cx="495948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Alert Engine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832643" y="2380745"/>
            <a:ext cx="509921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Traffic LSTM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733945" y="1059952"/>
            <a:ext cx="711251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Simulated Sensor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926742" y="3041152"/>
            <a:ext cx="402393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Heatmaps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908416" y="3701548"/>
            <a:ext cx="439779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SOS Route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899177" y="1720348"/>
            <a:ext cx="458648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Preprocess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62562" y="1059952"/>
            <a:ext cx="533333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MQTT Broker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12080" y="2380745"/>
            <a:ext cx="636308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Anomaly Detect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949822" y="1059952"/>
            <a:ext cx="439779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Edge Node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920018" y="3701548"/>
            <a:ext cx="500577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Incident Log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883366" y="3041152"/>
            <a:ext cx="575348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Auto-Dispatch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855839" y="2380745"/>
            <a:ext cx="631507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Demand ARIMA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864916" y="1720348"/>
            <a:ext cx="612981" cy="16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b="true" sz="6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Feature Extract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2578" y="38100"/>
            <a:ext cx="10117322" cy="644528"/>
          </a:xfrm>
          <a:custGeom>
            <a:avLst/>
            <a:gdLst/>
            <a:ahLst/>
            <a:cxnLst/>
            <a:rect r="r" b="b" t="t" l="l"/>
            <a:pathLst>
              <a:path h="644528" w="10117322">
                <a:moveTo>
                  <a:pt x="0" y="0"/>
                </a:moveTo>
                <a:lnTo>
                  <a:pt x="10117322" y="0"/>
                </a:lnTo>
                <a:lnTo>
                  <a:pt x="10117322" y="644528"/>
                </a:lnTo>
                <a:lnTo>
                  <a:pt x="0" y="64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695963"/>
            <a:ext cx="10819000" cy="6927542"/>
          </a:xfrm>
          <a:custGeom>
            <a:avLst/>
            <a:gdLst/>
            <a:ahLst/>
            <a:cxnLst/>
            <a:rect r="r" b="b" t="t" l="l"/>
            <a:pathLst>
              <a:path h="6927542" w="10819000">
                <a:moveTo>
                  <a:pt x="0" y="0"/>
                </a:moveTo>
                <a:lnTo>
                  <a:pt x="10819000" y="0"/>
                </a:lnTo>
                <a:lnTo>
                  <a:pt x="10819000" y="6927542"/>
                </a:lnTo>
                <a:lnTo>
                  <a:pt x="0" y="69275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6483" y="290970"/>
            <a:ext cx="437740" cy="25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b="true" sz="8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GLITCH GODS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7200" y="3355658"/>
            <a:ext cx="755618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"/>
              </a:lnSpc>
            </a:pPr>
            <a:r>
              <a:rPr lang="en-US" b="true" sz="6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C: AI ANALYTICS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200" y="2062105"/>
            <a:ext cx="1007707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"/>
              </a:lnSpc>
            </a:pPr>
            <a:r>
              <a:rPr lang="en-US" b="true" sz="6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B: EDGE 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200" y="4649219"/>
            <a:ext cx="1027748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"/>
              </a:lnSpc>
            </a:pPr>
            <a:r>
              <a:rPr lang="en-US" b="true" sz="6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D: GEO-ALERT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7200" y="5942781"/>
            <a:ext cx="1324985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"/>
              </a:lnSpc>
            </a:pPr>
            <a:r>
              <a:rPr lang="en-US" b="true" sz="6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E: DASHBOARD &amp; RESPONSE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7200" y="768544"/>
            <a:ext cx="1329976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"/>
              </a:lnSpc>
            </a:pPr>
            <a:r>
              <a:rPr lang="en-US" b="true" sz="6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A: IoT ONBOARDING &amp; SETUP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43621" y="5207098"/>
            <a:ext cx="403155" cy="28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"/>
              </a:lnSpc>
            </a:pPr>
            <a:r>
              <a:rPr lang="en-US" b="true" sz="6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Zone Classify?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63038" y="2619985"/>
            <a:ext cx="382934" cy="28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"/>
              </a:lnSpc>
            </a:pPr>
            <a:r>
              <a:rPr lang="en-US" b="true" sz="6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Anomaly Detect?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79757" y="184337"/>
            <a:ext cx="458467" cy="28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</a:pPr>
            <a:r>
              <a:rPr lang="en-US" b="true" sz="699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NEXACITY</a:t>
            </a:r>
          </a:p>
          <a:p>
            <a:pPr algn="ctr">
              <a:lnSpc>
                <a:spcPts val="839"/>
              </a:lnSpc>
            </a:pPr>
            <a:r>
              <a:rPr lang="en-US" b="true" sz="600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79346" y="5569753"/>
            <a:ext cx="151095" cy="13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C6282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Risk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96603" y="56540"/>
            <a:ext cx="1023509" cy="44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PRABUDDHA</a:t>
            </a:r>
            <a:r>
              <a:rPr lang="en-US" b="true" sz="11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TECHATHON2026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99852" y="7293092"/>
            <a:ext cx="64818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35184" y="20612"/>
            <a:ext cx="2470071" cy="58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8339" y="6482305"/>
            <a:ext cx="302247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Admin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Login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5136" y="1308068"/>
            <a:ext cx="512788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City Admin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Registers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3895" y="2601630"/>
            <a:ext cx="556117" cy="19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Raw Sensor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7772" y="2762307"/>
            <a:ext cx="23412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4223" y="5188744"/>
            <a:ext cx="637042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GPS Location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Check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1887" y="3885657"/>
            <a:ext cx="296904" cy="32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Traffic</a:t>
            </a:r>
          </a:p>
          <a:p>
            <a:pPr algn="ctr">
              <a:lnSpc>
                <a:spcPts val="976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73797" y="6482305"/>
            <a:ext cx="341605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Live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Heatmap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16361" y="1308068"/>
            <a:ext cx="458762" cy="19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Configure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82566" y="1468745"/>
            <a:ext cx="23412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81833" y="2601630"/>
            <a:ext cx="529199" cy="19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Preprocess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65589" y="2762307"/>
            <a:ext cx="23412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38030" y="3895182"/>
            <a:ext cx="453523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Waste Fill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Predictor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36512" y="3895182"/>
            <a:ext cx="523761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Emergency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ARIMA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62493" y="2601630"/>
            <a:ext cx="374361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Feature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Extraction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63407" y="6472780"/>
            <a:ext cx="372494" cy="32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Incident</a:t>
            </a:r>
          </a:p>
          <a:p>
            <a:pPr algn="ctr">
              <a:lnSpc>
                <a:spcPts val="976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18402" y="5188744"/>
            <a:ext cx="464306" cy="19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Safe Zone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14858" y="5347383"/>
            <a:ext cx="106518" cy="16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 spc="11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044345" y="1308068"/>
            <a:ext cx="615382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MQTT Broker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Setup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90194" y="6482305"/>
            <a:ext cx="327546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Auto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Dispatch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14680" y="3895182"/>
            <a:ext cx="442636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Fusion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Layer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23147" y="5188744"/>
            <a:ext cx="464306" cy="19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Risk Zone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21919" y="5347383"/>
            <a:ext cx="106518" cy="16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 spc="11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02002" y="1308068"/>
            <a:ext cx="507444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Edge Node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Pairing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83462" y="6482305"/>
            <a:ext cx="350949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City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Resolved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3762" y="1308068"/>
            <a:ext cx="431949" cy="31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Live Data</a:t>
            </a:r>
          </a:p>
          <a:p>
            <a:pPr algn="ctr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Streaming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14758" y="5188744"/>
            <a:ext cx="491119" cy="19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Notify App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76576" y="5349421"/>
            <a:ext cx="23412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09424" y="2601630"/>
            <a:ext cx="501996" cy="19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Forward to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254538" y="2762307"/>
            <a:ext cx="23412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242412" y="3895182"/>
            <a:ext cx="464401" cy="19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7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Predictive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13646" y="4055869"/>
            <a:ext cx="23412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03427" y="2762307"/>
            <a:ext cx="271462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In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93485" y="4055869"/>
            <a:ext cx="477250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LSTM Model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210535" y="2762307"/>
            <a:ext cx="266662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&amp;Filter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121047" y="1468745"/>
            <a:ext cx="449209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SensorGrid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246026" y="5222424"/>
            <a:ext cx="173203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90A4A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Safe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180819" y="6642983"/>
            <a:ext cx="336975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Alert Log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219290" y="5349421"/>
            <a:ext cx="365008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 Action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226351" y="5349421"/>
            <a:ext cx="360293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Geo-Alert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401554" y="2936348"/>
            <a:ext cx="424710" cy="164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C6282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YES→Alert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76528" y="2762307"/>
            <a:ext cx="365093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 Engine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21511" y="5349421"/>
            <a:ext cx="477336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&amp; Authorities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270454" y="4055869"/>
            <a:ext cx="407194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Insight Out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39858" y="951452"/>
            <a:ext cx="2540003" cy="12697"/>
          </a:xfrm>
          <a:custGeom>
            <a:avLst/>
            <a:gdLst/>
            <a:ahLst/>
            <a:cxnLst/>
            <a:rect r="r" b="b" t="t" l="l"/>
            <a:pathLst>
              <a:path h="12697" w="2540003">
                <a:moveTo>
                  <a:pt x="0" y="0"/>
                </a:moveTo>
                <a:lnTo>
                  <a:pt x="2540003" y="0"/>
                </a:lnTo>
                <a:lnTo>
                  <a:pt x="2540003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229799"/>
            <a:ext cx="10692003" cy="330203"/>
          </a:xfrm>
          <a:custGeom>
            <a:avLst/>
            <a:gdLst/>
            <a:ahLst/>
            <a:cxnLst/>
            <a:rect r="r" b="b" t="t" l="l"/>
            <a:pathLst>
              <a:path h="330203" w="10692003">
                <a:moveTo>
                  <a:pt x="0" y="0"/>
                </a:moveTo>
                <a:lnTo>
                  <a:pt x="10692003" y="0"/>
                </a:lnTo>
                <a:lnTo>
                  <a:pt x="10692003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50497" y="101603"/>
            <a:ext cx="507997" cy="507997"/>
          </a:xfrm>
          <a:custGeom>
            <a:avLst/>
            <a:gdLst/>
            <a:ahLst/>
            <a:cxnLst/>
            <a:rect r="r" b="b" t="t" l="l"/>
            <a:pathLst>
              <a:path h="507997" w="507997">
                <a:moveTo>
                  <a:pt x="0" y="0"/>
                </a:moveTo>
                <a:lnTo>
                  <a:pt x="507996" y="0"/>
                </a:lnTo>
                <a:lnTo>
                  <a:pt x="507996" y="507997"/>
                </a:lnTo>
                <a:lnTo>
                  <a:pt x="0" y="507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6719" y="756000"/>
            <a:ext cx="4254567" cy="6385842"/>
          </a:xfrm>
          <a:custGeom>
            <a:avLst/>
            <a:gdLst/>
            <a:ahLst/>
            <a:cxnLst/>
            <a:rect r="r" b="b" t="t" l="l"/>
            <a:pathLst>
              <a:path h="6385842" w="4254567">
                <a:moveTo>
                  <a:pt x="0" y="0"/>
                </a:moveTo>
                <a:lnTo>
                  <a:pt x="4254567" y="0"/>
                </a:lnTo>
                <a:lnTo>
                  <a:pt x="4254567" y="6385842"/>
                </a:lnTo>
                <a:lnTo>
                  <a:pt x="0" y="63858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79757" y="184337"/>
            <a:ext cx="458467" cy="28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</a:pPr>
            <a:r>
              <a:rPr lang="en-US" b="true" sz="699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NEXACITY</a:t>
            </a:r>
          </a:p>
          <a:p>
            <a:pPr algn="ctr">
              <a:lnSpc>
                <a:spcPts val="839"/>
              </a:lnSpc>
            </a:pPr>
            <a:r>
              <a:rPr lang="en-US" b="true" sz="600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60302" y="695547"/>
            <a:ext cx="749335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Actors: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60302" y="4053805"/>
            <a:ext cx="1625676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System Functions: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96603" y="56540"/>
            <a:ext cx="1023509" cy="44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PRABUDDHA</a:t>
            </a:r>
            <a:r>
              <a:rPr lang="en-US" b="true" sz="11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TECHATHON2026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48407" y="1953806"/>
            <a:ext cx="36014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60302" y="2860808"/>
            <a:ext cx="3331326" cy="36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"/>
              </a:lnSpc>
            </a:pPr>
            <a:r>
              <a:rPr lang="en-US" sz="10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Monitors dashboards, verifies incidents, and triggers emergency dispatch.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60302" y="3568249"/>
            <a:ext cx="3536997" cy="36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"/>
              </a:lnSpc>
            </a:pPr>
            <a:r>
              <a:rPr lang="en-US" sz="10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Receives real-time alerts, SOS routing, and city service updates.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4295" y="1407709"/>
            <a:ext cx="36014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39858" y="2116118"/>
            <a:ext cx="3292240" cy="36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"/>
              </a:lnSpc>
            </a:pPr>
            <a:r>
              <a:rPr lang="en-US" sz="10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Simulated 5G-connected devices sending real-time urban data streams.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63701" y="861603"/>
            <a:ext cx="36014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60302" y="1360278"/>
            <a:ext cx="3662020" cy="36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"/>
              </a:lnSpc>
            </a:pPr>
            <a:r>
              <a:rPr lang="en-US" sz="10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Registers city, configures IoT sensors, and manages the platform.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99852" y="7293092"/>
            <a:ext cx="64818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6719" y="98612"/>
            <a:ext cx="656797" cy="47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b="true" sz="8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GLITCH GODS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04605" y="99687"/>
            <a:ext cx="2311394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2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CASE DIAGRAM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60302" y="1025633"/>
            <a:ext cx="1407485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City</a:t>
            </a:r>
            <a:r>
              <a:rPr lang="en-US" b="true" sz="12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299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Admin: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39858" y="1794761"/>
            <a:ext cx="1092194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IoT</a:t>
            </a:r>
            <a:r>
              <a:rPr lang="en-US" b="true" sz="12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299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Sensors: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60302" y="3260058"/>
            <a:ext cx="1470989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Citizens / App: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60302" y="2554738"/>
            <a:ext cx="1625676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Govt.</a:t>
            </a:r>
            <a:r>
              <a:rPr lang="en-US" b="true" sz="12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299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Authority: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60302" y="4346802"/>
            <a:ext cx="4272434" cy="113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852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IoT Grid Setup &amp; Live Data Streaming (device management) </a:t>
            </a:r>
          </a:p>
          <a:p>
            <a:pPr algn="l" marL="237491" indent="-118745" lvl="1">
              <a:lnSpc>
                <a:spcPts val="1852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 Anomaly Detection (traffic, waste, emergency)</a:t>
            </a:r>
          </a:p>
          <a:p>
            <a:pPr algn="l" marL="237491" indent="-118745" lvl="1">
              <a:lnSpc>
                <a:spcPts val="1852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Geo-Zone Breach Alerts (real-time boundary enforcement)</a:t>
            </a:r>
          </a:p>
          <a:p>
            <a:pPr algn="l" marL="237491" indent="-118745" lvl="1">
              <a:lnSpc>
                <a:spcPts val="1852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Emergency SOS Auto-Dispatch (multi-level escalation)</a:t>
            </a:r>
          </a:p>
          <a:p>
            <a:pPr algn="l" marL="237491" indent="-118745" lvl="1">
              <a:lnSpc>
                <a:spcPts val="1852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City Dashboard Heatmaps &amp; Incident Reports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38100"/>
            <a:ext cx="10819000" cy="7585396"/>
          </a:xfrm>
          <a:custGeom>
            <a:avLst/>
            <a:gdLst/>
            <a:ahLst/>
            <a:cxnLst/>
            <a:rect r="r" b="b" t="t" l="l"/>
            <a:pathLst>
              <a:path h="7585396" w="10819000">
                <a:moveTo>
                  <a:pt x="0" y="0"/>
                </a:moveTo>
                <a:lnTo>
                  <a:pt x="10819000" y="0"/>
                </a:lnTo>
                <a:lnTo>
                  <a:pt x="10819000" y="7585396"/>
                </a:lnTo>
                <a:lnTo>
                  <a:pt x="0" y="758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2297" y="279943"/>
            <a:ext cx="437740" cy="25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b="true" sz="8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GLITCH GODS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79757" y="184337"/>
            <a:ext cx="458467" cy="28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</a:pPr>
            <a:r>
              <a:rPr lang="en-US" b="true" sz="699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NEXACITY</a:t>
            </a:r>
          </a:p>
          <a:p>
            <a:pPr algn="ctr">
              <a:lnSpc>
                <a:spcPts val="839"/>
              </a:lnSpc>
            </a:pPr>
            <a:r>
              <a:rPr lang="en-US" b="true" sz="600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89750" y="539144"/>
            <a:ext cx="1322632" cy="28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Feasibility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04713" y="539144"/>
            <a:ext cx="1172156" cy="28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Viability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96603" y="56540"/>
            <a:ext cx="1023509" cy="44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PRABUDDHA</a:t>
            </a:r>
            <a:r>
              <a:rPr lang="en-US" b="true" sz="11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TECHATHON</a:t>
            </a:r>
            <a:r>
              <a:rPr lang="en-US" b="true" sz="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9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99852" y="7293092"/>
            <a:ext cx="64818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36582" y="46415"/>
            <a:ext cx="3895220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2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FEASIBILITY AND VIABILITY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7200" y="3173559"/>
            <a:ext cx="1732550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Social Feasibility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2588" y="1382078"/>
            <a:ext cx="2393866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Technical Feasibility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4214" y="1105900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565C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7200" y="2191931"/>
            <a:ext cx="2032815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Operational Feasibility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1979" y="1690097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25491" y="1248321"/>
            <a:ext cx="1806311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0089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Economic Viability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73467" y="1105900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80224" y="3157680"/>
            <a:ext cx="2027524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0089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Market &amp; Scale Viability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3450" y="2426694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41416" y="2353138"/>
            <a:ext cx="2585295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0089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Government &amp; Policy Viability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63373" y="1842497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7200" y="3436031"/>
            <a:ext cx="3120867" cy="76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53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Multilingual citizen app, voice SOS, and inclusive </a:t>
            </a:r>
          </a:p>
          <a:p>
            <a:pPr algn="l" marL="237491" indent="-118745" lvl="1">
              <a:lnSpc>
                <a:spcPts val="1553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UI support diverse urban populations across India.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7200" y="1640523"/>
            <a:ext cx="3140610" cy="57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53"/>
              </a:lnSpc>
              <a:buFont typeface="Arial"/>
              <a:buChar char="•"/>
            </a:pPr>
            <a:r>
              <a:rPr lang="en-US" sz="1100">
                <a:solidFill>
                  <a:srgbClr val="1565C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React Native, FastAPI,Node.js, Python  </a:t>
            </a:r>
          </a:p>
          <a:p>
            <a:pPr algn="l" marL="237491" indent="-118745" lvl="1">
              <a:lnSpc>
                <a:spcPts val="1553"/>
              </a:lnSpc>
              <a:buFont typeface="Arial"/>
              <a:buChar char="•"/>
            </a:pPr>
            <a:r>
              <a:rPr lang="en-US" sz="1100">
                <a:solidFill>
                  <a:srgbClr val="1565C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ML, MQTT, AWS, InfluxDB — all production-ready frameworks.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7200" y="2430609"/>
            <a:ext cx="2600773" cy="76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Microservicesdesign allows independent deployment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traffic, waste, and emergency modules per city.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41416" y="1468666"/>
            <a:ext cx="309865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Builton AWS free tier + open-source frameworks,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low-cost pilot-first rollout with strong 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ROI via reduced urban incident costs and fuel savings.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80224" y="2621109"/>
            <a:ext cx="3103158" cy="57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Aligned with SmartCities Mission(MoHUA) and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Digital India frameworks. DPDP Act 2023 compliant.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75857" y="3425650"/>
            <a:ext cx="3303900" cy="76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Modular design lets anycity adopt one or all modules.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Proven demand from 100+ Smart City Mission projects.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0" y="-25396"/>
            <a:ext cx="10819000" cy="7585396"/>
          </a:xfrm>
          <a:custGeom>
            <a:avLst/>
            <a:gdLst/>
            <a:ahLst/>
            <a:cxnLst/>
            <a:rect r="r" b="b" t="t" l="l"/>
            <a:pathLst>
              <a:path h="7585396" w="10819000">
                <a:moveTo>
                  <a:pt x="0" y="0"/>
                </a:moveTo>
                <a:lnTo>
                  <a:pt x="10819000" y="0"/>
                </a:lnTo>
                <a:lnTo>
                  <a:pt x="10819000" y="7585396"/>
                </a:lnTo>
                <a:lnTo>
                  <a:pt x="0" y="758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0397" y="290970"/>
            <a:ext cx="437740" cy="25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b="true" sz="8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GLITCH GODS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0397" y="1535773"/>
            <a:ext cx="2724274" cy="51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9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Citizens experience faster, safer daily travel.</a:t>
            </a:r>
          </a:p>
          <a:p>
            <a:pPr algn="l">
              <a:lnSpc>
                <a:spcPts val="1374"/>
              </a:lnSpc>
            </a:pPr>
            <a:r>
              <a:rPr lang="en-US" sz="999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Reduced fuel consumption and carbon emissions city-wide.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0397" y="4829994"/>
            <a:ext cx="2810599" cy="3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8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Cleaner cities with 30% reduction in unnecessary waste trips. Lower city energy bills through predictive grid management.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0397" y="4347391"/>
            <a:ext cx="3052477" cy="3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8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Smart waste sensors prevent overflow; AI optimises pickup routes. Energy grid analytics cut wastage and detect distribution faults.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0397" y="1062695"/>
            <a:ext cx="3185027" cy="3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8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AI-driven traffic management cuts average commute time by 25-30%. Real-time geo-alerts prevent accidents in high-risk intersections.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27002" y="4347391"/>
            <a:ext cx="2735885" cy="3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8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Live dashboards give authorities real-time city intelligence. Historical analytics support evidence-based urban planning.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27002" y="4829994"/>
            <a:ext cx="2796092" cy="3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8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Faster, smarter policy decisions backed by verifiable data. Scalable platform grows with the city's population and needs.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27002" y="1545298"/>
            <a:ext cx="2845318" cy="3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8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Response times reduced from minutes to seconds.</a:t>
            </a:r>
          </a:p>
          <a:p>
            <a:pPr algn="l">
              <a:lnSpc>
                <a:spcPts val="1100"/>
              </a:lnSpc>
            </a:pPr>
            <a:r>
              <a:rPr lang="en-US" sz="8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Better coordination between police, fire, and medical services.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27002" y="1062695"/>
            <a:ext cx="2908849" cy="3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"/>
              </a:lnSpc>
            </a:pPr>
            <a:r>
              <a:rPr lang="en-US" sz="80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Sub-10ms SOS routing to nearest emergency unit via 5G edge. Auto-incident logging eliminates manual report delays.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79757" y="184337"/>
            <a:ext cx="458467" cy="28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</a:pPr>
            <a:r>
              <a:rPr lang="en-US" b="true" sz="699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NEXACITY</a:t>
            </a:r>
          </a:p>
          <a:p>
            <a:pPr algn="ctr">
              <a:lnSpc>
                <a:spcPts val="839"/>
              </a:lnSpc>
            </a:pPr>
            <a:r>
              <a:rPr lang="en-US" b="true" sz="600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96603" y="56540"/>
            <a:ext cx="1023509" cy="44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PRABUDDHA</a:t>
            </a:r>
            <a:r>
              <a:rPr lang="en-US" b="true" sz="11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TECHATHON</a:t>
            </a:r>
            <a:r>
              <a:rPr lang="en-US" b="true" sz="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9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99852" y="7293092"/>
            <a:ext cx="64818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93402" y="20612"/>
            <a:ext cx="3575304" cy="58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 AND BENEFITS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55116" y="633003"/>
            <a:ext cx="36014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57C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2603" y="633003"/>
            <a:ext cx="1598009" cy="45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 Urban Mobility &amp; Safety</a:t>
            </a:r>
          </a:p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2603" y="3917709"/>
            <a:ext cx="1922116" cy="45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089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 Environmental Sustainability</a:t>
            </a:r>
          </a:p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49198" y="3917709"/>
            <a:ext cx="1655778" cy="45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7B1FA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4. Data-Driven Governance</a:t>
            </a:r>
          </a:p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49198" y="633003"/>
            <a:ext cx="2145440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57C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2.EmergencyResponse</a:t>
            </a:r>
            <a:r>
              <a:rPr lang="en-US" b="true" sz="10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1000">
                <a:solidFill>
                  <a:srgbClr val="F57C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Efficiency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2603" y="1364351"/>
            <a:ext cx="409823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2603" y="4649048"/>
            <a:ext cx="409823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49198" y="881748"/>
            <a:ext cx="391544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49198" y="1364351"/>
            <a:ext cx="409823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49198" y="4649048"/>
            <a:ext cx="409823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2103" y="895350"/>
            <a:ext cx="2159003" cy="336547"/>
          </a:xfrm>
          <a:custGeom>
            <a:avLst/>
            <a:gdLst/>
            <a:ahLst/>
            <a:cxnLst/>
            <a:rect r="r" b="b" t="t" l="l"/>
            <a:pathLst>
              <a:path h="336547" w="2159003">
                <a:moveTo>
                  <a:pt x="0" y="0"/>
                </a:moveTo>
                <a:lnTo>
                  <a:pt x="2159003" y="0"/>
                </a:lnTo>
                <a:lnTo>
                  <a:pt x="2159003" y="336547"/>
                </a:lnTo>
                <a:lnTo>
                  <a:pt x="0" y="336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8303" y="1638300"/>
            <a:ext cx="101603" cy="101603"/>
          </a:xfrm>
          <a:custGeom>
            <a:avLst/>
            <a:gdLst/>
            <a:ahLst/>
            <a:cxnLst/>
            <a:rect r="r" b="b" t="t" l="l"/>
            <a:pathLst>
              <a:path h="101603" w="101603">
                <a:moveTo>
                  <a:pt x="0" y="0"/>
                </a:moveTo>
                <a:lnTo>
                  <a:pt x="101603" y="0"/>
                </a:lnTo>
                <a:lnTo>
                  <a:pt x="1016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8303" y="2209800"/>
            <a:ext cx="101603" cy="101603"/>
          </a:xfrm>
          <a:custGeom>
            <a:avLst/>
            <a:gdLst/>
            <a:ahLst/>
            <a:cxnLst/>
            <a:rect r="r" b="b" t="t" l="l"/>
            <a:pathLst>
              <a:path h="101603" w="101603">
                <a:moveTo>
                  <a:pt x="0" y="0"/>
                </a:moveTo>
                <a:lnTo>
                  <a:pt x="101603" y="0"/>
                </a:lnTo>
                <a:lnTo>
                  <a:pt x="1016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2103" y="2914650"/>
            <a:ext cx="2286000" cy="298447"/>
          </a:xfrm>
          <a:custGeom>
            <a:avLst/>
            <a:gdLst/>
            <a:ahLst/>
            <a:cxnLst/>
            <a:rect r="r" b="b" t="t" l="l"/>
            <a:pathLst>
              <a:path h="298447" w="2286000">
                <a:moveTo>
                  <a:pt x="0" y="0"/>
                </a:moveTo>
                <a:lnTo>
                  <a:pt x="2286000" y="0"/>
                </a:lnTo>
                <a:lnTo>
                  <a:pt x="2286000" y="298447"/>
                </a:lnTo>
                <a:lnTo>
                  <a:pt x="0" y="2984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1000" y="3276600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1000" y="3479797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1000" y="3683003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1000" y="3886200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1000" y="4089397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7229799"/>
            <a:ext cx="10692003" cy="330203"/>
          </a:xfrm>
          <a:custGeom>
            <a:avLst/>
            <a:gdLst/>
            <a:ahLst/>
            <a:cxnLst/>
            <a:rect r="r" b="b" t="t" l="l"/>
            <a:pathLst>
              <a:path h="330203" w="10692003">
                <a:moveTo>
                  <a:pt x="0" y="0"/>
                </a:moveTo>
                <a:lnTo>
                  <a:pt x="10692003" y="0"/>
                </a:lnTo>
                <a:lnTo>
                  <a:pt x="10692003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2578" y="38100"/>
            <a:ext cx="10122408" cy="7031679"/>
          </a:xfrm>
          <a:custGeom>
            <a:avLst/>
            <a:gdLst/>
            <a:ahLst/>
            <a:cxnLst/>
            <a:rect r="r" b="b" t="t" l="l"/>
            <a:pathLst>
              <a:path h="7031679" w="10122408">
                <a:moveTo>
                  <a:pt x="0" y="0"/>
                </a:moveTo>
                <a:lnTo>
                  <a:pt x="10122408" y="0"/>
                </a:lnTo>
                <a:lnTo>
                  <a:pt x="10122408" y="7031679"/>
                </a:lnTo>
                <a:lnTo>
                  <a:pt x="0" y="7031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0462" y="196999"/>
            <a:ext cx="437740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800" b="true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GLITCH GODS</a:t>
            </a:r>
          </a:p>
          <a:p>
            <a:pPr algn="ctr">
              <a:lnSpc>
                <a:spcPts val="10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879757" y="184337"/>
            <a:ext cx="458467" cy="28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</a:pPr>
            <a:r>
              <a:rPr lang="en-US" b="true" sz="699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NEXACITY</a:t>
            </a:r>
          </a:p>
          <a:p>
            <a:pPr algn="ctr">
              <a:lnSpc>
                <a:spcPts val="839"/>
              </a:lnSpc>
            </a:pPr>
            <a:r>
              <a:rPr lang="en-US" b="true" sz="600">
                <a:solidFill>
                  <a:srgbClr val="00BCD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36073" y="767744"/>
            <a:ext cx="1568006" cy="28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Technology Pillars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96603" y="56540"/>
            <a:ext cx="1023509" cy="44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1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PRABUDDHA</a:t>
            </a:r>
            <a:r>
              <a:rPr lang="en-US" b="true" sz="11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TECHATHON2026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0703" y="990390"/>
            <a:ext cx="1069096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IEEE Xplore (2023):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0504" y="1194797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0703" y="2133390"/>
            <a:ext cx="1729788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565C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NITI Aayog Smart Cities (2023):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9332" y="2337797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0703" y="1561890"/>
            <a:ext cx="1749142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89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Cisco Smart City Report (2022):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0744" y="1766297"/>
            <a:ext cx="3061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0703" y="2946197"/>
            <a:ext cx="2103511" cy="46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b="true" sz="9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ITU Smart City KPIs Report, 2022 MoHUA Smart Cities Mission Reports</a:t>
            </a:r>
            <a:r>
              <a:rPr lang="en-US" sz="90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0703" y="3390690"/>
            <a:ext cx="1883512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MQTT Protocol Specification v5.0</a:t>
            </a:r>
            <a:r>
              <a:rPr lang="en-US" sz="90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0703" y="3593897"/>
            <a:ext cx="1196702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5G MEC Architecture</a:t>
            </a:r>
            <a:r>
              <a:rPr lang="en-US" sz="90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0703" y="3758994"/>
            <a:ext cx="1598343" cy="46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b="true" sz="9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TensorFlow Lite for Edge AI</a:t>
            </a:r>
            <a:r>
              <a:rPr lang="en-US" sz="90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b="true" sz="900">
                <a:solidFill>
                  <a:srgbClr val="1B3A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InfluxDB Time-Series for IoT</a:t>
            </a:r>
            <a:r>
              <a:rPr lang="en-US" sz="90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99852" y="7293092"/>
            <a:ext cx="64818" cy="2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9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50134" y="26565"/>
            <a:ext cx="5295567" cy="64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D1B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RESEARCH AND REFERENCES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55597" y="692934"/>
            <a:ext cx="967197" cy="28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RESEARCH 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55597" y="2712234"/>
            <a:ext cx="1157307" cy="28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E88E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REFERENCES 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0703" y="2337797"/>
            <a:ext cx="2444201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India'sSmart CitiesMission: outcomes, tech stack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0703" y="2490197"/>
            <a:ext cx="2417445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adoption, and lessons from 100 city deployments.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0703" y="1766297"/>
            <a:ext cx="2643721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Edge computingdeploymentstrategies for low-latency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0703" y="1918697"/>
            <a:ext cx="2263950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civic IoT applications — a practical framework.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0703" y="1194797"/>
            <a:ext cx="2728941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Smart City IoTarchitectures using 5G MEC for real-time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0703" y="1347197"/>
            <a:ext cx="2074669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1111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urban traffic and emergency management.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12974" y="3226794"/>
            <a:ext cx="942318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– smartcities.gov.in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97290" y="3430000"/>
            <a:ext cx="495710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–mqtt.org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23949" y="3633197"/>
            <a:ext cx="948700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–</a:t>
            </a:r>
            <a:r>
              <a:rPr lang="en-US" sz="8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85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ETSI</a:t>
            </a:r>
            <a:r>
              <a:rPr lang="en-US" sz="8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85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</a:t>
            </a:r>
            <a:r>
              <a:rPr lang="en-US" sz="8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85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302</a:t>
            </a:r>
            <a:r>
              <a:rPr lang="en-US" sz="8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85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217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98624" y="3836394"/>
            <a:ext cx="954643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–tensorflow.org/lite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17712" y="4039600"/>
            <a:ext cx="1064866" cy="18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85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–</a:t>
            </a:r>
            <a:r>
              <a:rPr lang="en-US" sz="8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850">
                <a:solidFill>
                  <a:srgbClr val="1E88E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influxdata.com/docs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752405" y="1592951"/>
            <a:ext cx="697430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AI/ML Engine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752405" y="1973951"/>
            <a:ext cx="734425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Microservices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52405" y="2354951"/>
            <a:ext cx="997258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MQTT/WebSockets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752405" y="2735951"/>
            <a:ext cx="1040092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Hybrid Connectivity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752405" y="3116951"/>
            <a:ext cx="1076868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Multi-City Scalability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52405" y="1211951"/>
            <a:ext cx="1153277" cy="20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b="true" sz="85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5G + Edge Computing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512357" y="1619564"/>
            <a:ext cx="1916773" cy="17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— LSTM + ARIMA + Isolation Forest models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548628" y="2000564"/>
            <a:ext cx="2111369" cy="17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— Independent traffic/waste/emergency modules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806308" y="2381564"/>
            <a:ext cx="1932794" cy="17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— Real-time bidirectional IoT communication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959270" y="1238564"/>
            <a:ext cx="1938338" cy="17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— Sub-10ms city intelligence via MEC nodes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848294" y="2762564"/>
            <a:ext cx="2197646" cy="17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— Seamless 4G/5G failover ensures 99.9% uptime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884356" y="3143564"/>
            <a:ext cx="2195122" cy="17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— Kubernetes + AWS Lambda auto-scaling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DAHG5QEtxVw</dc:identifier>
  <dcterms:modified xsi:type="dcterms:W3CDTF">2011-08-01T06:04:30Z</dcterms:modified>
  <cp:revision>1</cp:revision>
  <dc:title>SmartScape_NexaCity5G_CodeSmokers_PRABUDDHA2026.pdf</dc:title>
</cp:coreProperties>
</file>